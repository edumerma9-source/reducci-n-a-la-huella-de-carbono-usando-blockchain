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US"/>
          </a:p>
        </p:txBody>
      </p:sp>
      <p:sp>
        <p:nvSpPr>
          <p:cNvPr id="3" name="Marcador de fech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E2FA69A-BA48-DD45-B818-B021237E8B9A}" type="datetimeFigureOut">
              <a:rPr lang="es-US" smtClean="0"/>
              <a:t>7/10/2026</a:t>
            </a:fld>
            <a:endParaRPr lang="es-US"/>
          </a:p>
        </p:txBody>
      </p:sp>
      <p:sp>
        <p:nvSpPr>
          <p:cNvPr id="4" name="Marcador de imagen d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s-US"/>
          </a:p>
        </p:txBody>
      </p:sp>
      <p:sp>
        <p:nvSpPr>
          <p:cNvPr id="5" name="Marcador de nota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6" name="Marcador de pie de pá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s-US"/>
          </a:p>
        </p:txBody>
      </p:sp>
      <p:sp>
        <p:nvSpPr>
          <p:cNvPr id="7" name="Marcador de número de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D9C2857-DF99-3341-9BBA-D9C616F8B7E2}" type="slidenum">
              <a:rPr lang="es-US" smtClean="0"/>
              <a:t>‹Nº›</a:t>
            </a:fld>
            <a:endParaRPr lang="es-US"/>
          </a:p>
        </p:txBody>
      </p:sp>
    </p:spTree>
    <p:extLst>
      <p:ext uri="{BB962C8B-B14F-4D97-AF65-F5344CB8AC3E}">
        <p14:creationId xmlns:p14="http://schemas.microsoft.com/office/powerpoint/2010/main" val="1216850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24F3A"/>
          </a:solidFill>
          <a:ln/>
        </p:spPr>
      </p:sp>
      <p:sp>
        <p:nvSpPr>
          <p:cNvPr id="3" name="Shape 1"/>
          <p:cNvSpPr/>
          <p:nvPr/>
        </p:nvSpPr>
        <p:spPr>
          <a:xfrm>
            <a:off x="10607040" y="4206240"/>
            <a:ext cx="2926080" cy="2926080"/>
          </a:xfrm>
          <a:prstGeom prst="ellipse">
            <a:avLst/>
          </a:prstGeom>
          <a:solidFill>
            <a:srgbClr val="173A2A"/>
          </a:solidFill>
          <a:ln/>
        </p:spPr>
      </p:sp>
      <p:sp>
        <p:nvSpPr>
          <p:cNvPr id="4" name="Shape 2"/>
          <p:cNvSpPr/>
          <p:nvPr/>
        </p:nvSpPr>
        <p:spPr>
          <a:xfrm>
            <a:off x="-1097280" y="4572000"/>
            <a:ext cx="3291840" cy="3291840"/>
          </a:xfrm>
          <a:prstGeom prst="ellipse">
            <a:avLst/>
          </a:prstGeom>
          <a:solidFill>
            <a:srgbClr val="224F3A"/>
          </a:solidFill>
          <a:ln/>
        </p:spPr>
      </p:sp>
      <p:sp>
        <p:nvSpPr>
          <p:cNvPr id="5" name="Text 3"/>
          <p:cNvSpPr/>
          <p:nvPr/>
        </p:nvSpPr>
        <p:spPr>
          <a:xfrm>
            <a:off x="822960" y="1005840"/>
            <a:ext cx="10058400" cy="365760"/>
          </a:xfrm>
          <a:prstGeom prst="rect">
            <a:avLst/>
          </a:prstGeom>
          <a:noFill/>
          <a:ln/>
        </p:spPr>
        <p:txBody>
          <a:bodyPr wrap="square" rtlCol="0" anchor="ctr"/>
          <a:lstStyle/>
          <a:p>
            <a:pPr marL="0" indent="0">
              <a:buNone/>
            </a:pPr>
            <a:r>
              <a:rPr lang="en-US" sz="1200" b="1" kern="0" spc="200" dirty="0">
                <a:solidFill>
                  <a:srgbClr val="E9B949"/>
                </a:solidFill>
                <a:latin typeface="Calibri" pitchFamily="34" charset="0"/>
                <a:ea typeface="Calibri" pitchFamily="34" charset="-122"/>
                <a:cs typeface="Calibri" pitchFamily="34" charset="-120"/>
              </a:rPr>
              <a:t>INFORME TÉCNICO-ECONÓMICO  ·  UNIVERSIDAD NACIONAL MAYOR DE SAN MARCOS</a:t>
            </a:r>
            <a:endParaRPr lang="en-US" sz="1200" dirty="0"/>
          </a:p>
        </p:txBody>
      </p:sp>
      <p:sp>
        <p:nvSpPr>
          <p:cNvPr id="6" name="Text 4"/>
          <p:cNvSpPr/>
          <p:nvPr/>
        </p:nvSpPr>
        <p:spPr>
          <a:xfrm>
            <a:off x="777240" y="1600200"/>
            <a:ext cx="10515600" cy="13716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Eco-Carbón UNMSM</a:t>
            </a:r>
            <a:endParaRPr lang="en-US" sz="5400" dirty="0"/>
          </a:p>
        </p:txBody>
      </p:sp>
      <p:sp>
        <p:nvSpPr>
          <p:cNvPr id="7" name="Text 5"/>
          <p:cNvSpPr/>
          <p:nvPr/>
        </p:nvSpPr>
        <p:spPr>
          <a:xfrm>
            <a:off x="822960" y="2880360"/>
            <a:ext cx="9692640" cy="822960"/>
          </a:xfrm>
          <a:prstGeom prst="rect">
            <a:avLst/>
          </a:prstGeom>
          <a:noFill/>
          <a:ln/>
        </p:spPr>
        <p:txBody>
          <a:bodyPr wrap="square" rtlCol="0" anchor="ctr"/>
          <a:lstStyle/>
          <a:p>
            <a:pPr marL="0" indent="0">
              <a:buNone/>
            </a:pPr>
            <a:r>
              <a:rPr lang="en-US" sz="2000" i="1" dirty="0">
                <a:solidFill>
                  <a:srgbClr val="74C69D"/>
                </a:solidFill>
                <a:latin typeface="Calibri" pitchFamily="34" charset="0"/>
                <a:ea typeface="Calibri" pitchFamily="34" charset="-122"/>
                <a:cs typeface="Calibri" pitchFamily="34" charset="-120"/>
              </a:rPr>
              <a:t>Protocolo de Incentivos Blockchain para la Sostenibilidad Universitaria</a:t>
            </a:r>
            <a:endParaRPr lang="en-US" sz="2000" dirty="0"/>
          </a:p>
        </p:txBody>
      </p:sp>
      <p:sp>
        <p:nvSpPr>
          <p:cNvPr id="8" name="Shape 6"/>
          <p:cNvSpPr/>
          <p:nvPr/>
        </p:nvSpPr>
        <p:spPr>
          <a:xfrm>
            <a:off x="822960" y="3977640"/>
            <a:ext cx="1984248" cy="420624"/>
          </a:xfrm>
          <a:prstGeom prst="roundRect">
            <a:avLst>
              <a:gd name="adj" fmla="val 50000"/>
            </a:avLst>
          </a:prstGeom>
          <a:solidFill>
            <a:srgbClr val="22503C"/>
          </a:solidFill>
          <a:ln w="12700">
            <a:solidFill>
              <a:srgbClr val="E9B949"/>
            </a:solidFill>
            <a:prstDash val="solid"/>
          </a:ln>
        </p:spPr>
      </p:sp>
      <p:sp>
        <p:nvSpPr>
          <p:cNvPr id="9" name="Text 7"/>
          <p:cNvSpPr/>
          <p:nvPr/>
        </p:nvSpPr>
        <p:spPr>
          <a:xfrm>
            <a:off x="822960" y="3977640"/>
            <a:ext cx="19842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Smart Contract EVM</a:t>
            </a:r>
            <a:endParaRPr lang="en-US" sz="1200" dirty="0"/>
          </a:p>
        </p:txBody>
      </p:sp>
      <p:sp>
        <p:nvSpPr>
          <p:cNvPr id="10" name="Shape 8"/>
          <p:cNvSpPr/>
          <p:nvPr/>
        </p:nvSpPr>
        <p:spPr>
          <a:xfrm>
            <a:off x="3035808" y="3977640"/>
            <a:ext cx="1024128" cy="420624"/>
          </a:xfrm>
          <a:prstGeom prst="roundRect">
            <a:avLst>
              <a:gd name="adj" fmla="val 50000"/>
            </a:avLst>
          </a:prstGeom>
          <a:solidFill>
            <a:srgbClr val="22503C"/>
          </a:solidFill>
          <a:ln w="12700">
            <a:solidFill>
              <a:srgbClr val="E9B949"/>
            </a:solidFill>
            <a:prstDash val="solid"/>
          </a:ln>
        </p:spPr>
      </p:sp>
      <p:sp>
        <p:nvSpPr>
          <p:cNvPr id="11" name="Text 9"/>
          <p:cNvSpPr/>
          <p:nvPr/>
        </p:nvSpPr>
        <p:spPr>
          <a:xfrm>
            <a:off x="3035808" y="3977640"/>
            <a:ext cx="102412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Red LNet</a:t>
            </a:r>
            <a:endParaRPr lang="en-US" sz="1200" dirty="0"/>
          </a:p>
        </p:txBody>
      </p:sp>
      <p:sp>
        <p:nvSpPr>
          <p:cNvPr id="12" name="Shape 10"/>
          <p:cNvSpPr/>
          <p:nvPr/>
        </p:nvSpPr>
        <p:spPr>
          <a:xfrm>
            <a:off x="4288536" y="3977640"/>
            <a:ext cx="2272284" cy="420624"/>
          </a:xfrm>
          <a:prstGeom prst="roundRect">
            <a:avLst>
              <a:gd name="adj" fmla="val 50000"/>
            </a:avLst>
          </a:prstGeom>
          <a:solidFill>
            <a:srgbClr val="22503C"/>
          </a:solidFill>
          <a:ln w="12700">
            <a:solidFill>
              <a:srgbClr val="E9B949"/>
            </a:solidFill>
            <a:prstDash val="solid"/>
          </a:ln>
        </p:spPr>
      </p:sp>
      <p:sp>
        <p:nvSpPr>
          <p:cNvPr id="13" name="Text 11"/>
          <p:cNvSpPr/>
          <p:nvPr/>
        </p:nvSpPr>
        <p:spPr>
          <a:xfrm>
            <a:off x="4288536" y="3977640"/>
            <a:ext cx="2272284"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Eco-Créditos on-chain</a:t>
            </a:r>
            <a:endParaRPr lang="en-US" sz="1200" dirty="0"/>
          </a:p>
        </p:txBody>
      </p:sp>
      <p:sp>
        <p:nvSpPr>
          <p:cNvPr id="14" name="Text 12"/>
          <p:cNvSpPr/>
          <p:nvPr/>
        </p:nvSpPr>
        <p:spPr>
          <a:xfrm>
            <a:off x="822960" y="5989320"/>
            <a:ext cx="5486400" cy="365760"/>
          </a:xfrm>
          <a:prstGeom prst="rect">
            <a:avLst/>
          </a:prstGeom>
          <a:noFill/>
          <a:ln/>
        </p:spPr>
        <p:txBody>
          <a:bodyPr wrap="square" rtlCol="0" anchor="ctr"/>
          <a:lstStyle/>
          <a:p>
            <a:pPr marL="0" indent="0">
              <a:buNone/>
            </a:pPr>
            <a:r>
              <a:rPr lang="en-US" sz="1300" dirty="0">
                <a:solidFill>
                  <a:srgbClr val="BFD8CB"/>
                </a:solidFill>
                <a:latin typeface="Calibri" pitchFamily="34" charset="0"/>
                <a:ea typeface="Calibri" pitchFamily="34" charset="-122"/>
                <a:cs typeface="Calibri" pitchFamily="34" charset="-120"/>
              </a:rPr>
              <a:t>Grupo de Investigación — UNMSM</a:t>
            </a:r>
            <a:endParaRPr lang="en-US" sz="1300" dirty="0"/>
          </a:p>
        </p:txBody>
      </p:sp>
      <p:sp>
        <p:nvSpPr>
          <p:cNvPr id="15" name="Text 13"/>
          <p:cNvSpPr/>
          <p:nvPr/>
        </p:nvSpPr>
        <p:spPr>
          <a:xfrm>
            <a:off x="9994392" y="5989320"/>
            <a:ext cx="1463040" cy="365760"/>
          </a:xfrm>
          <a:prstGeom prst="rect">
            <a:avLst/>
          </a:prstGeom>
          <a:noFill/>
          <a:ln/>
        </p:spPr>
        <p:txBody>
          <a:bodyPr wrap="square" rtlCol="0" anchor="ctr"/>
          <a:lstStyle/>
          <a:p>
            <a:pPr marL="0" indent="0" algn="r">
              <a:buNone/>
            </a:pPr>
            <a:r>
              <a:rPr lang="en-US" sz="1300" dirty="0">
                <a:solidFill>
                  <a:srgbClr val="BFD8CB"/>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01</a:t>
            </a:r>
            <a:endParaRPr lang="en-US" sz="16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Nombre del proyecto</a:t>
            </a:r>
            <a:endParaRPr lang="en-US" sz="3200" dirty="0"/>
          </a:p>
        </p:txBody>
      </p:sp>
      <p:sp>
        <p:nvSpPr>
          <p:cNvPr id="4" name="Shape 2"/>
          <p:cNvSpPr/>
          <p:nvPr/>
        </p:nvSpPr>
        <p:spPr>
          <a:xfrm>
            <a:off x="640080" y="1691640"/>
            <a:ext cx="4846320" cy="4206240"/>
          </a:xfrm>
          <a:prstGeom prst="roundRect">
            <a:avLst>
              <a:gd name="adj" fmla="val 2174"/>
            </a:avLst>
          </a:prstGeom>
          <a:solidFill>
            <a:srgbClr val="1B4332"/>
          </a:solidFill>
          <a:ln/>
        </p:spPr>
      </p:sp>
      <p:sp>
        <p:nvSpPr>
          <p:cNvPr id="5" name="Text 3"/>
          <p:cNvSpPr/>
          <p:nvPr/>
        </p:nvSpPr>
        <p:spPr>
          <a:xfrm>
            <a:off x="914400" y="1920240"/>
            <a:ext cx="4297680" cy="548640"/>
          </a:xfrm>
          <a:prstGeom prst="rect">
            <a:avLst/>
          </a:prstGeom>
          <a:noFill/>
          <a:ln/>
        </p:spPr>
        <p:txBody>
          <a:bodyPr wrap="square" rtlCol="0" anchor="ctr"/>
          <a:lstStyle/>
          <a:p>
            <a:pPr marL="0" indent="0">
              <a:buNone/>
            </a:pPr>
            <a:r>
              <a:rPr lang="en-US" sz="2200" b="1" dirty="0">
                <a:solidFill>
                  <a:srgbClr val="E9B949"/>
                </a:solidFill>
                <a:latin typeface="Cambria" pitchFamily="34" charset="0"/>
                <a:ea typeface="Cambria" pitchFamily="34" charset="-122"/>
                <a:cs typeface="Cambria" pitchFamily="34" charset="-120"/>
              </a:rPr>
              <a:t>Eco + Carbón</a:t>
            </a:r>
            <a:endParaRPr lang="en-US" sz="2200" dirty="0"/>
          </a:p>
        </p:txBody>
      </p:sp>
      <p:sp>
        <p:nvSpPr>
          <p:cNvPr id="6" name="Shape 4"/>
          <p:cNvSpPr/>
          <p:nvPr/>
        </p:nvSpPr>
        <p:spPr>
          <a:xfrm>
            <a:off x="914400" y="2606040"/>
            <a:ext cx="1188720" cy="411480"/>
          </a:xfrm>
          <a:prstGeom prst="roundRect">
            <a:avLst>
              <a:gd name="adj" fmla="val 17778"/>
            </a:avLst>
          </a:prstGeom>
          <a:solidFill>
            <a:srgbClr val="22503C"/>
          </a:solidFill>
          <a:ln w="9525">
            <a:solidFill>
              <a:srgbClr val="E9B949"/>
            </a:solidFill>
            <a:prstDash val="solid"/>
          </a:ln>
        </p:spPr>
      </p:sp>
      <p:sp>
        <p:nvSpPr>
          <p:cNvPr id="7" name="Text 5"/>
          <p:cNvSpPr/>
          <p:nvPr/>
        </p:nvSpPr>
        <p:spPr>
          <a:xfrm>
            <a:off x="914400" y="2606040"/>
            <a:ext cx="11887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ECO</a:t>
            </a:r>
            <a:endParaRPr lang="en-US" sz="1300" dirty="0"/>
          </a:p>
        </p:txBody>
      </p:sp>
      <p:sp>
        <p:nvSpPr>
          <p:cNvPr id="8" name="Text 6"/>
          <p:cNvSpPr/>
          <p:nvPr/>
        </p:nvSpPr>
        <p:spPr>
          <a:xfrm>
            <a:off x="2240280" y="2606040"/>
            <a:ext cx="3063240" cy="54864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Acción pro-ambiental verificable on-chain</a:t>
            </a:r>
            <a:endParaRPr lang="en-US" sz="1250" dirty="0"/>
          </a:p>
        </p:txBody>
      </p:sp>
      <p:sp>
        <p:nvSpPr>
          <p:cNvPr id="9" name="Shape 7"/>
          <p:cNvSpPr/>
          <p:nvPr/>
        </p:nvSpPr>
        <p:spPr>
          <a:xfrm>
            <a:off x="914400" y="3383280"/>
            <a:ext cx="1188720" cy="411480"/>
          </a:xfrm>
          <a:prstGeom prst="roundRect">
            <a:avLst>
              <a:gd name="adj" fmla="val 17778"/>
            </a:avLst>
          </a:prstGeom>
          <a:solidFill>
            <a:srgbClr val="22503C"/>
          </a:solidFill>
          <a:ln w="9525">
            <a:solidFill>
              <a:srgbClr val="E9B949"/>
            </a:solidFill>
            <a:prstDash val="solid"/>
          </a:ln>
        </p:spPr>
      </p:sp>
      <p:sp>
        <p:nvSpPr>
          <p:cNvPr id="10" name="Text 8"/>
          <p:cNvSpPr/>
          <p:nvPr/>
        </p:nvSpPr>
        <p:spPr>
          <a:xfrm>
            <a:off x="914400" y="3383280"/>
            <a:ext cx="11887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CARBÓN</a:t>
            </a:r>
            <a:endParaRPr lang="en-US" sz="1300" dirty="0"/>
          </a:p>
        </p:txBody>
      </p:sp>
      <p:sp>
        <p:nvSpPr>
          <p:cNvPr id="11" name="Text 9"/>
          <p:cNvSpPr/>
          <p:nvPr/>
        </p:nvSpPr>
        <p:spPr>
          <a:xfrm>
            <a:off x="2240280" y="3383280"/>
            <a:ext cx="3063240" cy="54864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Huella de carbono que se busca mitigar y recompensar</a:t>
            </a:r>
            <a:endParaRPr lang="en-US" sz="1250" dirty="0"/>
          </a:p>
        </p:txBody>
      </p:sp>
      <p:sp>
        <p:nvSpPr>
          <p:cNvPr id="12" name="Text 10"/>
          <p:cNvSpPr/>
          <p:nvPr/>
        </p:nvSpPr>
        <p:spPr>
          <a:xfrm>
            <a:off x="914400" y="4297680"/>
            <a:ext cx="4297680" cy="1463040"/>
          </a:xfrm>
          <a:prstGeom prst="rect">
            <a:avLst/>
          </a:prstGeom>
          <a:noFill/>
          <a:ln/>
        </p:spPr>
        <p:txBody>
          <a:bodyPr wrap="square" rtlCol="0" anchor="t"/>
          <a:lstStyle/>
          <a:p>
            <a:pPr marL="0" indent="0">
              <a:buNone/>
            </a:pPr>
            <a:r>
              <a:rPr lang="en-US" sz="1300" dirty="0">
                <a:solidFill>
                  <a:srgbClr val="DCEAE1"/>
                </a:solidFill>
                <a:latin typeface="Calibri" pitchFamily="34" charset="0"/>
                <a:ea typeface="Calibri" pitchFamily="34" charset="-122"/>
                <a:cs typeface="Calibri" pitchFamily="34" charset="-120"/>
              </a:rPr>
              <a:t>Identidad institucional Web3: comunica que el proyecto es un mecanismo económico compatible con incentivos —no una simple campaña de sensibilización— implementado como software inmutable.</a:t>
            </a:r>
            <a:endParaRPr lang="en-US" sz="1300" dirty="0"/>
          </a:p>
        </p:txBody>
      </p:sp>
      <p:sp>
        <p:nvSpPr>
          <p:cNvPr id="13" name="Text 11"/>
          <p:cNvSpPr/>
          <p:nvPr/>
        </p:nvSpPr>
        <p:spPr>
          <a:xfrm>
            <a:off x="5806440" y="1783080"/>
            <a:ext cx="5669280" cy="365760"/>
          </a:xfrm>
          <a:prstGeom prst="rect">
            <a:avLst/>
          </a:prstGeom>
          <a:noFill/>
          <a:ln/>
        </p:spPr>
        <p:txBody>
          <a:bodyPr wrap="square" rtlCol="0" anchor="ctr"/>
          <a:lstStyle/>
          <a:p>
            <a:pPr marL="0" indent="0">
              <a:buNone/>
            </a:pPr>
            <a:r>
              <a:rPr lang="en-US" sz="1300" b="1" kern="0" spc="100" dirty="0">
                <a:solidFill>
                  <a:srgbClr val="5B6B60"/>
                </a:solidFill>
                <a:latin typeface="Calibri" pitchFamily="34" charset="0"/>
                <a:ea typeface="Calibri" pitchFamily="34" charset="-122"/>
                <a:cs typeface="Calibri" pitchFamily="34" charset="-120"/>
              </a:rPr>
              <a:t>EVOLUCIÓN DEL PROYECTO</a:t>
            </a:r>
            <a:endParaRPr lang="en-US" sz="1300" dirty="0"/>
          </a:p>
        </p:txBody>
      </p:sp>
      <p:sp>
        <p:nvSpPr>
          <p:cNvPr id="14" name="Shape 12"/>
          <p:cNvSpPr/>
          <p:nvPr/>
        </p:nvSpPr>
        <p:spPr>
          <a:xfrm>
            <a:off x="5806440" y="2240280"/>
            <a:ext cx="5669280" cy="1371600"/>
          </a:xfrm>
          <a:prstGeom prst="roundRect">
            <a:avLst>
              <a:gd name="adj" fmla="val 5333"/>
            </a:avLst>
          </a:prstGeom>
          <a:solidFill>
            <a:srgbClr val="FFFFFF"/>
          </a:solidFill>
          <a:ln w="12700">
            <a:solidFill>
              <a:srgbClr val="D8E2DB"/>
            </a:solidFill>
            <a:prstDash val="solid"/>
          </a:ln>
        </p:spPr>
      </p:sp>
      <p:sp>
        <p:nvSpPr>
          <p:cNvPr id="15" name="Text 13"/>
          <p:cNvSpPr/>
          <p:nvPr/>
        </p:nvSpPr>
        <p:spPr>
          <a:xfrm>
            <a:off x="6080760" y="2377440"/>
            <a:ext cx="5120640" cy="320040"/>
          </a:xfrm>
          <a:prstGeom prst="rect">
            <a:avLst/>
          </a:prstGeom>
          <a:noFill/>
          <a:ln/>
        </p:spPr>
        <p:txBody>
          <a:bodyPr wrap="square" rtlCol="0" anchor="ctr"/>
          <a:lstStyle/>
          <a:p>
            <a:pPr marL="0" indent="0">
              <a:buNone/>
            </a:pPr>
            <a:r>
              <a:rPr lang="en-US" sz="1200" b="1" dirty="0">
                <a:solidFill>
                  <a:srgbClr val="74C69D"/>
                </a:solidFill>
                <a:latin typeface="Calibri" pitchFamily="34" charset="0"/>
                <a:ea typeface="Calibri" pitchFamily="34" charset="-122"/>
                <a:cs typeface="Calibri" pitchFamily="34" charset="-120"/>
              </a:rPr>
              <a:t>Informe original</a:t>
            </a:r>
            <a:endParaRPr lang="en-US" sz="1200" dirty="0"/>
          </a:p>
        </p:txBody>
      </p:sp>
      <p:sp>
        <p:nvSpPr>
          <p:cNvPr id="16" name="Text 14"/>
          <p:cNvSpPr/>
          <p:nvPr/>
        </p:nvSpPr>
        <p:spPr>
          <a:xfrm>
            <a:off x="6080760" y="2697480"/>
            <a:ext cx="5120640" cy="822960"/>
          </a:xfrm>
          <a:prstGeom prst="rect">
            <a:avLst/>
          </a:prstGeom>
          <a:noFill/>
          <a:ln/>
        </p:spPr>
        <p:txBody>
          <a:bodyPr wrap="square" rtlCol="0" anchor="ctr"/>
          <a:lstStyle/>
          <a:p>
            <a:pPr marL="0" indent="0">
              <a:buNone/>
            </a:pPr>
            <a:r>
              <a:rPr lang="en-US" sz="1250" i="1" dirty="0">
                <a:solidFill>
                  <a:srgbClr val="1A1F1B"/>
                </a:solidFill>
                <a:latin typeface="Calibri" pitchFamily="34" charset="0"/>
                <a:ea typeface="Calibri" pitchFamily="34" charset="-122"/>
                <a:cs typeface="Calibri" pitchFamily="34" charset="-120"/>
              </a:rPr>
              <a:t>“Reducción de la Huella de Carbono mediante la Promoción de Hábitos Sostenibles en la Comunidad Universitaria” — Grupo G5, UNMSM</a:t>
            </a:r>
            <a:endParaRPr lang="en-US" sz="1250" dirty="0"/>
          </a:p>
        </p:txBody>
      </p:sp>
      <p:sp>
        <p:nvSpPr>
          <p:cNvPr id="17" name="Shape 15"/>
          <p:cNvSpPr/>
          <p:nvPr/>
        </p:nvSpPr>
        <p:spPr>
          <a:xfrm>
            <a:off x="8138160" y="3730752"/>
            <a:ext cx="457200" cy="457200"/>
          </a:xfrm>
          <a:prstGeom prst="ellipse">
            <a:avLst/>
          </a:prstGeom>
          <a:solidFill>
            <a:srgbClr val="E9B949"/>
          </a:solidFill>
          <a:ln/>
        </p:spPr>
      </p:sp>
      <p:sp>
        <p:nvSpPr>
          <p:cNvPr id="18" name="Text 16"/>
          <p:cNvSpPr/>
          <p:nvPr/>
        </p:nvSpPr>
        <p:spPr>
          <a:xfrm>
            <a:off x="8138160" y="3730752"/>
            <a:ext cx="457200" cy="457200"/>
          </a:xfrm>
          <a:prstGeom prst="rect">
            <a:avLst/>
          </a:prstGeom>
          <a:noFill/>
          <a:ln/>
        </p:spPr>
        <p:txBody>
          <a:bodyPr wrap="square" rtlCol="0" anchor="ctr"/>
          <a:lstStyle/>
          <a:p>
            <a:pPr marL="0" indent="0" algn="ctr">
              <a:buNone/>
            </a:pPr>
            <a:r>
              <a:rPr lang="en-US" sz="2200" b="1" dirty="0">
                <a:solidFill>
                  <a:srgbClr val="1B4332"/>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5806440" y="4343400"/>
            <a:ext cx="5669280" cy="1508760"/>
          </a:xfrm>
          <a:prstGeom prst="roundRect">
            <a:avLst>
              <a:gd name="adj" fmla="val 4848"/>
            </a:avLst>
          </a:prstGeom>
          <a:solidFill>
            <a:srgbClr val="1B4332"/>
          </a:solidFill>
          <a:ln/>
        </p:spPr>
      </p:sp>
      <p:sp>
        <p:nvSpPr>
          <p:cNvPr id="20" name="Text 18"/>
          <p:cNvSpPr/>
          <p:nvPr/>
        </p:nvSpPr>
        <p:spPr>
          <a:xfrm>
            <a:off x="6080760" y="4480560"/>
            <a:ext cx="5120640" cy="320040"/>
          </a:xfrm>
          <a:prstGeom prst="rect">
            <a:avLst/>
          </a:prstGeom>
          <a:noFill/>
          <a:ln/>
        </p:spPr>
        <p:txBody>
          <a:bodyPr wrap="square" rtlCol="0" anchor="ctr"/>
          <a:lstStyle/>
          <a:p>
            <a:pPr marL="0" indent="0">
              <a:buNone/>
            </a:pPr>
            <a:r>
              <a:rPr lang="en-US" sz="1200" b="1" dirty="0">
                <a:solidFill>
                  <a:srgbClr val="E9B949"/>
                </a:solidFill>
                <a:latin typeface="Calibri" pitchFamily="34" charset="0"/>
                <a:ea typeface="Calibri" pitchFamily="34" charset="-122"/>
                <a:cs typeface="Calibri" pitchFamily="34" charset="-120"/>
              </a:rPr>
              <a:t>Eco-Carbón UNMSM</a:t>
            </a:r>
            <a:endParaRPr lang="en-US" sz="1200" dirty="0"/>
          </a:p>
        </p:txBody>
      </p:sp>
      <p:sp>
        <p:nvSpPr>
          <p:cNvPr id="21" name="Text 19"/>
          <p:cNvSpPr/>
          <p:nvPr/>
        </p:nvSpPr>
        <p:spPr>
          <a:xfrm>
            <a:off x="6080760" y="4800600"/>
            <a:ext cx="5120640" cy="9144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Transforma una propuesta de sensibilización cualitativa en un protocolo económico verificable, on-chain y de alto rigor técnico.</a:t>
            </a:r>
            <a:endParaRPr lang="en-US" sz="1250" dirty="0"/>
          </a:p>
        </p:txBody>
      </p:sp>
      <p:sp>
        <p:nvSpPr>
          <p:cNvPr id="22" name="Text 20"/>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3" name="Text 21"/>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02</a:t>
            </a:r>
            <a:endParaRPr lang="en-US" sz="16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Equipo de trabajo y roles</a:t>
            </a:r>
            <a:endParaRPr lang="en-US" sz="32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300" i="1" dirty="0">
                <a:solidFill>
                  <a:srgbClr val="5B6B60"/>
                </a:solidFill>
                <a:latin typeface="Calibri" pitchFamily="34" charset="0"/>
                <a:ea typeface="Calibri" pitchFamily="34" charset="-122"/>
                <a:cs typeface="Calibri" pitchFamily="34" charset="-120"/>
              </a:rPr>
              <a:t>Distribución de responsabilidades según principio de ventaja comparativa — especialización propia de la teoría microeconómica de la firma.</a:t>
            </a:r>
            <a:endParaRPr lang="en-US" sz="1300" dirty="0"/>
          </a:p>
        </p:txBody>
      </p:sp>
      <p:sp>
        <p:nvSpPr>
          <p:cNvPr id="5" name="Shape 3"/>
          <p:cNvSpPr/>
          <p:nvPr/>
        </p:nvSpPr>
        <p:spPr>
          <a:xfrm>
            <a:off x="640080" y="2057400"/>
            <a:ext cx="1998878" cy="4160520"/>
          </a:xfrm>
          <a:prstGeom prst="roundRect">
            <a:avLst>
              <a:gd name="adj" fmla="val 4117"/>
            </a:avLst>
          </a:prstGeom>
          <a:solidFill>
            <a:srgbClr val="FFFFFF"/>
          </a:solidFill>
          <a:ln w="12700">
            <a:solidFill>
              <a:srgbClr val="D8E2DB"/>
            </a:solidFill>
            <a:prstDash val="solid"/>
          </a:ln>
        </p:spPr>
      </p:sp>
      <p:sp>
        <p:nvSpPr>
          <p:cNvPr id="6" name="Shape 4"/>
          <p:cNvSpPr/>
          <p:nvPr/>
        </p:nvSpPr>
        <p:spPr>
          <a:xfrm>
            <a:off x="1319479" y="2331720"/>
            <a:ext cx="640080" cy="640080"/>
          </a:xfrm>
          <a:prstGeom prst="ellipse">
            <a:avLst/>
          </a:prstGeom>
          <a:solidFill>
            <a:srgbClr val="1B4332"/>
          </a:solidFill>
          <a:ln/>
        </p:spPr>
      </p:sp>
      <p:sp>
        <p:nvSpPr>
          <p:cNvPr id="7" name="Text 5"/>
          <p:cNvSpPr/>
          <p:nvPr/>
        </p:nvSpPr>
        <p:spPr>
          <a:xfrm>
            <a:off x="1319479" y="2331720"/>
            <a:ext cx="640080" cy="64008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777240" y="3154680"/>
            <a:ext cx="1724558" cy="777240"/>
          </a:xfrm>
          <a:prstGeom prst="rect">
            <a:avLst/>
          </a:prstGeom>
          <a:noFill/>
          <a:ln/>
        </p:spPr>
        <p:txBody>
          <a:bodyPr wrap="square" rtlCol="0" anchor="ctr"/>
          <a:lstStyle/>
          <a:p>
            <a:pPr marL="0" indent="0" algn="ctr">
              <a:buNone/>
            </a:pPr>
            <a:r>
              <a:rPr lang="en-US" sz="1250" b="1" dirty="0">
                <a:solidFill>
                  <a:srgbClr val="1A1F1B"/>
                </a:solidFill>
                <a:latin typeface="Calibri" pitchFamily="34" charset="0"/>
                <a:ea typeface="Calibri" pitchFamily="34" charset="-122"/>
                <a:cs typeface="Calibri" pitchFamily="34" charset="-120"/>
              </a:rPr>
              <a:t>Edu Adelky Merma Uñapillco</a:t>
            </a:r>
            <a:endParaRPr lang="en-US" sz="1250" dirty="0"/>
          </a:p>
        </p:txBody>
      </p:sp>
      <p:sp>
        <p:nvSpPr>
          <p:cNvPr id="9" name="Shape 7"/>
          <p:cNvSpPr/>
          <p:nvPr/>
        </p:nvSpPr>
        <p:spPr>
          <a:xfrm>
            <a:off x="777240" y="3931920"/>
            <a:ext cx="1724558" cy="502920"/>
          </a:xfrm>
          <a:prstGeom prst="roundRect">
            <a:avLst>
              <a:gd name="adj" fmla="val 54545"/>
            </a:avLst>
          </a:prstGeom>
          <a:solidFill>
            <a:srgbClr val="E7F3EC"/>
          </a:solidFill>
          <a:ln/>
        </p:spPr>
      </p:sp>
      <p:sp>
        <p:nvSpPr>
          <p:cNvPr id="10" name="Text 8"/>
          <p:cNvSpPr/>
          <p:nvPr/>
        </p:nvSpPr>
        <p:spPr>
          <a:xfrm>
            <a:off x="777240" y="3931920"/>
            <a:ext cx="1724558" cy="502920"/>
          </a:xfrm>
          <a:prstGeom prst="rect">
            <a:avLst/>
          </a:prstGeom>
          <a:noFill/>
          <a:ln/>
        </p:spPr>
        <p:txBody>
          <a:bodyPr wrap="square" rtlCol="0" anchor="ctr"/>
          <a:lstStyle/>
          <a:p>
            <a:pPr marL="0" indent="0" algn="ctr">
              <a:buNone/>
            </a:pPr>
            <a:r>
              <a:rPr lang="en-US" sz="1050" b="1" dirty="0">
                <a:solidFill>
                  <a:srgbClr val="1B4332"/>
                </a:solidFill>
                <a:latin typeface="Calibri" pitchFamily="34" charset="0"/>
                <a:ea typeface="Calibri" pitchFamily="34" charset="-122"/>
                <a:cs typeface="Calibri" pitchFamily="34" charset="-120"/>
              </a:rPr>
              <a:t>Líder del Proyecto y Coordinación General</a:t>
            </a:r>
            <a:endParaRPr lang="en-US" sz="1050" dirty="0"/>
          </a:p>
        </p:txBody>
      </p:sp>
      <p:sp>
        <p:nvSpPr>
          <p:cNvPr id="11" name="Text 9"/>
          <p:cNvSpPr/>
          <p:nvPr/>
        </p:nvSpPr>
        <p:spPr>
          <a:xfrm>
            <a:off x="777240" y="4526280"/>
            <a:ext cx="1724558" cy="1554480"/>
          </a:xfrm>
          <a:prstGeom prst="rect">
            <a:avLst/>
          </a:prstGeom>
          <a:noFill/>
          <a:ln/>
        </p:spPr>
        <p:txBody>
          <a:bodyPr wrap="square" rtlCol="0" anchor="t"/>
          <a:lstStyle/>
          <a:p>
            <a:pPr marL="0" indent="0" algn="ctr">
              <a:buNone/>
            </a:pPr>
            <a:r>
              <a:rPr lang="en-US" sz="1000" dirty="0">
                <a:solidFill>
                  <a:srgbClr val="5B6B60"/>
                </a:solidFill>
                <a:latin typeface="Calibri" pitchFamily="34" charset="0"/>
                <a:ea typeface="Calibri" pitchFamily="34" charset="-122"/>
                <a:cs typeface="Calibri" pitchFamily="34" charset="-120"/>
              </a:rPr>
              <a:t>Planificación, supervisión de objetivos y revisión final del informe.</a:t>
            </a:r>
            <a:endParaRPr lang="en-US" sz="1000" dirty="0"/>
          </a:p>
        </p:txBody>
      </p:sp>
      <p:sp>
        <p:nvSpPr>
          <p:cNvPr id="12" name="Shape 10"/>
          <p:cNvSpPr/>
          <p:nvPr/>
        </p:nvSpPr>
        <p:spPr>
          <a:xfrm>
            <a:off x="2867558" y="2057400"/>
            <a:ext cx="1998878" cy="4160520"/>
          </a:xfrm>
          <a:prstGeom prst="roundRect">
            <a:avLst>
              <a:gd name="adj" fmla="val 4117"/>
            </a:avLst>
          </a:prstGeom>
          <a:solidFill>
            <a:srgbClr val="FFFFFF"/>
          </a:solidFill>
          <a:ln w="12700">
            <a:solidFill>
              <a:srgbClr val="D8E2DB"/>
            </a:solidFill>
            <a:prstDash val="solid"/>
          </a:ln>
        </p:spPr>
      </p:sp>
      <p:sp>
        <p:nvSpPr>
          <p:cNvPr id="13" name="Shape 11"/>
          <p:cNvSpPr/>
          <p:nvPr/>
        </p:nvSpPr>
        <p:spPr>
          <a:xfrm>
            <a:off x="3546958" y="2331720"/>
            <a:ext cx="640080" cy="640080"/>
          </a:xfrm>
          <a:prstGeom prst="ellipse">
            <a:avLst/>
          </a:prstGeom>
          <a:solidFill>
            <a:srgbClr val="1B4332"/>
          </a:solidFill>
          <a:ln/>
        </p:spPr>
      </p:sp>
      <p:sp>
        <p:nvSpPr>
          <p:cNvPr id="14" name="Text 12"/>
          <p:cNvSpPr/>
          <p:nvPr/>
        </p:nvSpPr>
        <p:spPr>
          <a:xfrm>
            <a:off x="3546958" y="2331720"/>
            <a:ext cx="640080" cy="64008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3004718" y="3154680"/>
            <a:ext cx="1724558" cy="777240"/>
          </a:xfrm>
          <a:prstGeom prst="rect">
            <a:avLst/>
          </a:prstGeom>
          <a:noFill/>
          <a:ln/>
        </p:spPr>
        <p:txBody>
          <a:bodyPr wrap="square" rtlCol="0" anchor="ctr"/>
          <a:lstStyle/>
          <a:p>
            <a:pPr marL="0" indent="0" algn="ctr">
              <a:buNone/>
            </a:pPr>
            <a:r>
              <a:rPr lang="en-US" sz="1250" b="1" dirty="0">
                <a:solidFill>
                  <a:srgbClr val="1A1F1B"/>
                </a:solidFill>
                <a:latin typeface="Calibri" pitchFamily="34" charset="0"/>
                <a:ea typeface="Calibri" pitchFamily="34" charset="-122"/>
                <a:cs typeface="Calibri" pitchFamily="34" charset="-120"/>
              </a:rPr>
              <a:t>Jair Antony Fredy Chipana Coarita</a:t>
            </a:r>
            <a:endParaRPr lang="en-US" sz="1250" dirty="0"/>
          </a:p>
        </p:txBody>
      </p:sp>
      <p:sp>
        <p:nvSpPr>
          <p:cNvPr id="16" name="Shape 14"/>
          <p:cNvSpPr/>
          <p:nvPr/>
        </p:nvSpPr>
        <p:spPr>
          <a:xfrm>
            <a:off x="3004718" y="3931920"/>
            <a:ext cx="1724558" cy="502920"/>
          </a:xfrm>
          <a:prstGeom prst="roundRect">
            <a:avLst>
              <a:gd name="adj" fmla="val 54545"/>
            </a:avLst>
          </a:prstGeom>
          <a:solidFill>
            <a:srgbClr val="E7F3EC"/>
          </a:solidFill>
          <a:ln/>
        </p:spPr>
      </p:sp>
      <p:sp>
        <p:nvSpPr>
          <p:cNvPr id="17" name="Text 15"/>
          <p:cNvSpPr/>
          <p:nvPr/>
        </p:nvSpPr>
        <p:spPr>
          <a:xfrm>
            <a:off x="3004718" y="3931920"/>
            <a:ext cx="1724558" cy="502920"/>
          </a:xfrm>
          <a:prstGeom prst="rect">
            <a:avLst/>
          </a:prstGeom>
          <a:noFill/>
          <a:ln/>
        </p:spPr>
        <p:txBody>
          <a:bodyPr wrap="square" rtlCol="0" anchor="ctr"/>
          <a:lstStyle/>
          <a:p>
            <a:pPr marL="0" indent="0" algn="ctr">
              <a:buNone/>
            </a:pPr>
            <a:r>
              <a:rPr lang="en-US" sz="1050" b="1" dirty="0">
                <a:solidFill>
                  <a:srgbClr val="1B4332"/>
                </a:solidFill>
                <a:latin typeface="Calibri" pitchFamily="34" charset="0"/>
                <a:ea typeface="Calibri" pitchFamily="34" charset="-122"/>
                <a:cs typeface="Calibri" pitchFamily="34" charset="-120"/>
              </a:rPr>
              <a:t>Investigador Principal</a:t>
            </a:r>
            <a:endParaRPr lang="en-US" sz="1050" dirty="0"/>
          </a:p>
        </p:txBody>
      </p:sp>
      <p:sp>
        <p:nvSpPr>
          <p:cNvPr id="18" name="Text 16"/>
          <p:cNvSpPr/>
          <p:nvPr/>
        </p:nvSpPr>
        <p:spPr>
          <a:xfrm>
            <a:off x="3004718" y="4526280"/>
            <a:ext cx="1724558" cy="1554480"/>
          </a:xfrm>
          <a:prstGeom prst="rect">
            <a:avLst/>
          </a:prstGeom>
          <a:noFill/>
          <a:ln/>
        </p:spPr>
        <p:txBody>
          <a:bodyPr wrap="square" rtlCol="0" anchor="t"/>
          <a:lstStyle/>
          <a:p>
            <a:pPr marL="0" indent="0" algn="ctr">
              <a:buNone/>
            </a:pPr>
            <a:r>
              <a:rPr lang="en-US" sz="1000" dirty="0">
                <a:solidFill>
                  <a:srgbClr val="5B6B60"/>
                </a:solidFill>
                <a:latin typeface="Calibri" pitchFamily="34" charset="0"/>
                <a:ea typeface="Calibri" pitchFamily="34" charset="-122"/>
                <a:cs typeface="Calibri" pitchFamily="34" charset="-120"/>
              </a:rPr>
              <a:t>Recopilación científica sobre huella de carbono y selección de fuentes.</a:t>
            </a:r>
            <a:endParaRPr lang="en-US" sz="1000" dirty="0"/>
          </a:p>
        </p:txBody>
      </p:sp>
      <p:sp>
        <p:nvSpPr>
          <p:cNvPr id="19" name="Shape 17"/>
          <p:cNvSpPr/>
          <p:nvPr/>
        </p:nvSpPr>
        <p:spPr>
          <a:xfrm>
            <a:off x="5095037" y="2057400"/>
            <a:ext cx="1998878" cy="4160520"/>
          </a:xfrm>
          <a:prstGeom prst="roundRect">
            <a:avLst>
              <a:gd name="adj" fmla="val 4117"/>
            </a:avLst>
          </a:prstGeom>
          <a:solidFill>
            <a:srgbClr val="FFFFFF"/>
          </a:solidFill>
          <a:ln w="12700">
            <a:solidFill>
              <a:srgbClr val="D8E2DB"/>
            </a:solidFill>
            <a:prstDash val="solid"/>
          </a:ln>
        </p:spPr>
      </p:sp>
      <p:sp>
        <p:nvSpPr>
          <p:cNvPr id="20" name="Shape 18"/>
          <p:cNvSpPr/>
          <p:nvPr/>
        </p:nvSpPr>
        <p:spPr>
          <a:xfrm>
            <a:off x="5774436" y="2331720"/>
            <a:ext cx="640080" cy="640080"/>
          </a:xfrm>
          <a:prstGeom prst="ellipse">
            <a:avLst/>
          </a:prstGeom>
          <a:solidFill>
            <a:srgbClr val="1B4332"/>
          </a:solidFill>
          <a:ln/>
        </p:spPr>
      </p:sp>
      <p:sp>
        <p:nvSpPr>
          <p:cNvPr id="21" name="Text 19"/>
          <p:cNvSpPr/>
          <p:nvPr/>
        </p:nvSpPr>
        <p:spPr>
          <a:xfrm>
            <a:off x="5774436" y="2331720"/>
            <a:ext cx="640080" cy="64008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5232197" y="3154680"/>
            <a:ext cx="1724558" cy="777240"/>
          </a:xfrm>
          <a:prstGeom prst="rect">
            <a:avLst/>
          </a:prstGeom>
          <a:noFill/>
          <a:ln/>
        </p:spPr>
        <p:txBody>
          <a:bodyPr wrap="square" rtlCol="0" anchor="ctr"/>
          <a:lstStyle/>
          <a:p>
            <a:pPr marL="0" indent="0" algn="ctr">
              <a:buNone/>
            </a:pPr>
            <a:r>
              <a:rPr lang="en-US" sz="1250" b="1" dirty="0">
                <a:solidFill>
                  <a:srgbClr val="1A1F1B"/>
                </a:solidFill>
                <a:latin typeface="Calibri" pitchFamily="34" charset="0"/>
                <a:ea typeface="Calibri" pitchFamily="34" charset="-122"/>
                <a:cs typeface="Calibri" pitchFamily="34" charset="-120"/>
              </a:rPr>
              <a:t>Godfrey Torres Huacho</a:t>
            </a:r>
            <a:endParaRPr lang="en-US" sz="1250" dirty="0"/>
          </a:p>
        </p:txBody>
      </p:sp>
      <p:sp>
        <p:nvSpPr>
          <p:cNvPr id="23" name="Shape 21"/>
          <p:cNvSpPr/>
          <p:nvPr/>
        </p:nvSpPr>
        <p:spPr>
          <a:xfrm>
            <a:off x="5232197" y="3931920"/>
            <a:ext cx="1724558" cy="502920"/>
          </a:xfrm>
          <a:prstGeom prst="roundRect">
            <a:avLst>
              <a:gd name="adj" fmla="val 54545"/>
            </a:avLst>
          </a:prstGeom>
          <a:solidFill>
            <a:srgbClr val="E7F3EC"/>
          </a:solidFill>
          <a:ln/>
        </p:spPr>
      </p:sp>
      <p:sp>
        <p:nvSpPr>
          <p:cNvPr id="24" name="Text 22"/>
          <p:cNvSpPr/>
          <p:nvPr/>
        </p:nvSpPr>
        <p:spPr>
          <a:xfrm>
            <a:off x="5232197" y="3931920"/>
            <a:ext cx="1724558" cy="502920"/>
          </a:xfrm>
          <a:prstGeom prst="rect">
            <a:avLst/>
          </a:prstGeom>
          <a:noFill/>
          <a:ln/>
        </p:spPr>
        <p:txBody>
          <a:bodyPr wrap="square" rtlCol="0" anchor="ctr"/>
          <a:lstStyle/>
          <a:p>
            <a:pPr marL="0" indent="0" algn="ctr">
              <a:buNone/>
            </a:pPr>
            <a:r>
              <a:rPr lang="en-US" sz="1050" b="1" dirty="0">
                <a:solidFill>
                  <a:srgbClr val="1B4332"/>
                </a:solidFill>
                <a:latin typeface="Calibri" pitchFamily="34" charset="0"/>
                <a:ea typeface="Calibri" pitchFamily="34" charset="-122"/>
                <a:cs typeface="Calibri" pitchFamily="34" charset="-120"/>
              </a:rPr>
              <a:t>Redacción y Documentación</a:t>
            </a:r>
            <a:endParaRPr lang="en-US" sz="1050" dirty="0"/>
          </a:p>
        </p:txBody>
      </p:sp>
      <p:sp>
        <p:nvSpPr>
          <p:cNvPr id="25" name="Text 23"/>
          <p:cNvSpPr/>
          <p:nvPr/>
        </p:nvSpPr>
        <p:spPr>
          <a:xfrm>
            <a:off x="5232197" y="4526280"/>
            <a:ext cx="1724558" cy="1554480"/>
          </a:xfrm>
          <a:prstGeom prst="rect">
            <a:avLst/>
          </a:prstGeom>
          <a:noFill/>
          <a:ln/>
        </p:spPr>
        <p:txBody>
          <a:bodyPr wrap="square" rtlCol="0" anchor="t"/>
          <a:lstStyle/>
          <a:p>
            <a:pPr marL="0" indent="0" algn="ctr">
              <a:buNone/>
            </a:pPr>
            <a:r>
              <a:rPr lang="en-US" sz="1000" dirty="0">
                <a:solidFill>
                  <a:srgbClr val="5B6B60"/>
                </a:solidFill>
                <a:latin typeface="Calibri" pitchFamily="34" charset="0"/>
                <a:ea typeface="Calibri" pitchFamily="34" charset="-122"/>
                <a:cs typeface="Calibri" pitchFamily="34" charset="-120"/>
              </a:rPr>
              <a:t>Elaboración, coherencia y adaptación del contenido a lenguaje académico.</a:t>
            </a:r>
            <a:endParaRPr lang="en-US" sz="1000" dirty="0"/>
          </a:p>
        </p:txBody>
      </p:sp>
      <p:sp>
        <p:nvSpPr>
          <p:cNvPr id="26" name="Shape 24"/>
          <p:cNvSpPr/>
          <p:nvPr/>
        </p:nvSpPr>
        <p:spPr>
          <a:xfrm>
            <a:off x="7322515" y="2057400"/>
            <a:ext cx="1998878" cy="4160520"/>
          </a:xfrm>
          <a:prstGeom prst="roundRect">
            <a:avLst>
              <a:gd name="adj" fmla="val 4117"/>
            </a:avLst>
          </a:prstGeom>
          <a:solidFill>
            <a:srgbClr val="FFFFFF"/>
          </a:solidFill>
          <a:ln w="12700">
            <a:solidFill>
              <a:srgbClr val="D8E2DB"/>
            </a:solidFill>
            <a:prstDash val="solid"/>
          </a:ln>
        </p:spPr>
      </p:sp>
      <p:sp>
        <p:nvSpPr>
          <p:cNvPr id="27" name="Shape 25"/>
          <p:cNvSpPr/>
          <p:nvPr/>
        </p:nvSpPr>
        <p:spPr>
          <a:xfrm>
            <a:off x="8001914" y="2331720"/>
            <a:ext cx="640080" cy="640080"/>
          </a:xfrm>
          <a:prstGeom prst="ellipse">
            <a:avLst/>
          </a:prstGeom>
          <a:solidFill>
            <a:srgbClr val="1B4332"/>
          </a:solidFill>
          <a:ln/>
        </p:spPr>
      </p:sp>
      <p:sp>
        <p:nvSpPr>
          <p:cNvPr id="28" name="Text 26"/>
          <p:cNvSpPr/>
          <p:nvPr/>
        </p:nvSpPr>
        <p:spPr>
          <a:xfrm>
            <a:off x="8001914" y="2331720"/>
            <a:ext cx="640080" cy="64008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4</a:t>
            </a:r>
            <a:endParaRPr lang="en-US" sz="2000" dirty="0"/>
          </a:p>
        </p:txBody>
      </p:sp>
      <p:sp>
        <p:nvSpPr>
          <p:cNvPr id="29" name="Text 27"/>
          <p:cNvSpPr/>
          <p:nvPr/>
        </p:nvSpPr>
        <p:spPr>
          <a:xfrm>
            <a:off x="7459675" y="3154680"/>
            <a:ext cx="1724558" cy="777240"/>
          </a:xfrm>
          <a:prstGeom prst="rect">
            <a:avLst/>
          </a:prstGeom>
          <a:noFill/>
          <a:ln/>
        </p:spPr>
        <p:txBody>
          <a:bodyPr wrap="square" rtlCol="0" anchor="ctr"/>
          <a:lstStyle/>
          <a:p>
            <a:pPr marL="0" indent="0" algn="ctr">
              <a:buNone/>
            </a:pPr>
            <a:r>
              <a:rPr lang="en-US" sz="1250" b="1" dirty="0">
                <a:solidFill>
                  <a:srgbClr val="1A1F1B"/>
                </a:solidFill>
                <a:latin typeface="Calibri" pitchFamily="34" charset="0"/>
                <a:ea typeface="Calibri" pitchFamily="34" charset="-122"/>
                <a:cs typeface="Calibri" pitchFamily="34" charset="-120"/>
              </a:rPr>
              <a:t>Tony Alexander Herrada Callirgos</a:t>
            </a:r>
            <a:endParaRPr lang="en-US" sz="1250" dirty="0"/>
          </a:p>
        </p:txBody>
      </p:sp>
      <p:sp>
        <p:nvSpPr>
          <p:cNvPr id="30" name="Shape 28"/>
          <p:cNvSpPr/>
          <p:nvPr/>
        </p:nvSpPr>
        <p:spPr>
          <a:xfrm>
            <a:off x="7459675" y="3931920"/>
            <a:ext cx="1724558" cy="502920"/>
          </a:xfrm>
          <a:prstGeom prst="roundRect">
            <a:avLst>
              <a:gd name="adj" fmla="val 54545"/>
            </a:avLst>
          </a:prstGeom>
          <a:solidFill>
            <a:srgbClr val="E7F3EC"/>
          </a:solidFill>
          <a:ln/>
        </p:spPr>
      </p:sp>
      <p:sp>
        <p:nvSpPr>
          <p:cNvPr id="31" name="Text 29"/>
          <p:cNvSpPr/>
          <p:nvPr/>
        </p:nvSpPr>
        <p:spPr>
          <a:xfrm>
            <a:off x="7459675" y="3931920"/>
            <a:ext cx="1724558" cy="502920"/>
          </a:xfrm>
          <a:prstGeom prst="rect">
            <a:avLst/>
          </a:prstGeom>
          <a:noFill/>
          <a:ln/>
        </p:spPr>
        <p:txBody>
          <a:bodyPr wrap="square" rtlCol="0" anchor="ctr"/>
          <a:lstStyle/>
          <a:p>
            <a:pPr marL="0" indent="0" algn="ctr">
              <a:buNone/>
            </a:pPr>
            <a:r>
              <a:rPr lang="en-US" sz="1050" b="1" dirty="0">
                <a:solidFill>
                  <a:srgbClr val="1B4332"/>
                </a:solidFill>
                <a:latin typeface="Calibri" pitchFamily="34" charset="0"/>
                <a:ea typeface="Calibri" pitchFamily="34" charset="-122"/>
                <a:cs typeface="Calibri" pitchFamily="34" charset="-120"/>
              </a:rPr>
              <a:t>Diseño y Presentación</a:t>
            </a:r>
            <a:endParaRPr lang="en-US" sz="1050" dirty="0"/>
          </a:p>
        </p:txBody>
      </p:sp>
      <p:sp>
        <p:nvSpPr>
          <p:cNvPr id="32" name="Text 30"/>
          <p:cNvSpPr/>
          <p:nvPr/>
        </p:nvSpPr>
        <p:spPr>
          <a:xfrm>
            <a:off x="7459675" y="4526280"/>
            <a:ext cx="1724558" cy="1554480"/>
          </a:xfrm>
          <a:prstGeom prst="rect">
            <a:avLst/>
          </a:prstGeom>
          <a:noFill/>
          <a:ln/>
        </p:spPr>
        <p:txBody>
          <a:bodyPr wrap="square" rtlCol="0" anchor="t"/>
          <a:lstStyle/>
          <a:p>
            <a:pPr marL="0" indent="0" algn="ctr">
              <a:buNone/>
            </a:pPr>
            <a:r>
              <a:rPr lang="en-US" sz="1000" dirty="0">
                <a:solidFill>
                  <a:srgbClr val="5B6B60"/>
                </a:solidFill>
                <a:latin typeface="Calibri" pitchFamily="34" charset="0"/>
                <a:ea typeface="Calibri" pitchFamily="34" charset="-122"/>
                <a:cs typeface="Calibri" pitchFamily="34" charset="-120"/>
              </a:rPr>
              <a:t>Diseño visual, gráficos, tablas y material de exposición.</a:t>
            </a:r>
            <a:endParaRPr lang="en-US" sz="1000" dirty="0"/>
          </a:p>
        </p:txBody>
      </p:sp>
      <p:sp>
        <p:nvSpPr>
          <p:cNvPr id="33" name="Shape 31"/>
          <p:cNvSpPr/>
          <p:nvPr/>
        </p:nvSpPr>
        <p:spPr>
          <a:xfrm>
            <a:off x="9549994" y="2057400"/>
            <a:ext cx="1998878" cy="4160520"/>
          </a:xfrm>
          <a:prstGeom prst="roundRect">
            <a:avLst>
              <a:gd name="adj" fmla="val 4117"/>
            </a:avLst>
          </a:prstGeom>
          <a:solidFill>
            <a:srgbClr val="FFFFFF"/>
          </a:solidFill>
          <a:ln w="12700">
            <a:solidFill>
              <a:srgbClr val="D8E2DB"/>
            </a:solidFill>
            <a:prstDash val="solid"/>
          </a:ln>
        </p:spPr>
      </p:sp>
      <p:sp>
        <p:nvSpPr>
          <p:cNvPr id="34" name="Shape 32"/>
          <p:cNvSpPr/>
          <p:nvPr/>
        </p:nvSpPr>
        <p:spPr>
          <a:xfrm>
            <a:off x="10229393" y="2331720"/>
            <a:ext cx="640080" cy="640080"/>
          </a:xfrm>
          <a:prstGeom prst="ellipse">
            <a:avLst/>
          </a:prstGeom>
          <a:solidFill>
            <a:srgbClr val="1B4332"/>
          </a:solidFill>
          <a:ln/>
        </p:spPr>
      </p:sp>
      <p:sp>
        <p:nvSpPr>
          <p:cNvPr id="35" name="Text 33"/>
          <p:cNvSpPr/>
          <p:nvPr/>
        </p:nvSpPr>
        <p:spPr>
          <a:xfrm>
            <a:off x="10229393" y="2331720"/>
            <a:ext cx="640080" cy="64008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5</a:t>
            </a:r>
            <a:endParaRPr lang="en-US" sz="2000" dirty="0"/>
          </a:p>
        </p:txBody>
      </p:sp>
      <p:sp>
        <p:nvSpPr>
          <p:cNvPr id="36" name="Text 34"/>
          <p:cNvSpPr/>
          <p:nvPr/>
        </p:nvSpPr>
        <p:spPr>
          <a:xfrm>
            <a:off x="9687154" y="3154680"/>
            <a:ext cx="1724558" cy="777240"/>
          </a:xfrm>
          <a:prstGeom prst="rect">
            <a:avLst/>
          </a:prstGeom>
          <a:noFill/>
          <a:ln/>
        </p:spPr>
        <p:txBody>
          <a:bodyPr wrap="square" rtlCol="0" anchor="ctr"/>
          <a:lstStyle/>
          <a:p>
            <a:pPr marL="0" indent="0" algn="ctr">
              <a:buNone/>
            </a:pPr>
            <a:r>
              <a:rPr lang="en-US" sz="1250" b="1" dirty="0">
                <a:solidFill>
                  <a:srgbClr val="1A1F1B"/>
                </a:solidFill>
                <a:latin typeface="Calibri" pitchFamily="34" charset="0"/>
                <a:ea typeface="Calibri" pitchFamily="34" charset="-122"/>
                <a:cs typeface="Calibri" pitchFamily="34" charset="-120"/>
              </a:rPr>
              <a:t>Yordi Yulino Cainicela Pérez</a:t>
            </a:r>
            <a:endParaRPr lang="en-US" sz="1250" dirty="0"/>
          </a:p>
        </p:txBody>
      </p:sp>
      <p:sp>
        <p:nvSpPr>
          <p:cNvPr id="37" name="Shape 35"/>
          <p:cNvSpPr/>
          <p:nvPr/>
        </p:nvSpPr>
        <p:spPr>
          <a:xfrm>
            <a:off x="9687154" y="3931920"/>
            <a:ext cx="1724558" cy="502920"/>
          </a:xfrm>
          <a:prstGeom prst="roundRect">
            <a:avLst>
              <a:gd name="adj" fmla="val 54545"/>
            </a:avLst>
          </a:prstGeom>
          <a:solidFill>
            <a:srgbClr val="E7F3EC"/>
          </a:solidFill>
          <a:ln/>
        </p:spPr>
      </p:sp>
      <p:sp>
        <p:nvSpPr>
          <p:cNvPr id="38" name="Text 36"/>
          <p:cNvSpPr/>
          <p:nvPr/>
        </p:nvSpPr>
        <p:spPr>
          <a:xfrm>
            <a:off x="9687154" y="3931920"/>
            <a:ext cx="1724558" cy="502920"/>
          </a:xfrm>
          <a:prstGeom prst="rect">
            <a:avLst/>
          </a:prstGeom>
          <a:noFill/>
          <a:ln/>
        </p:spPr>
        <p:txBody>
          <a:bodyPr wrap="square" rtlCol="0" anchor="ctr"/>
          <a:lstStyle/>
          <a:p>
            <a:pPr marL="0" indent="0" algn="ctr">
              <a:buNone/>
            </a:pPr>
            <a:r>
              <a:rPr lang="en-US" sz="1050" b="1" dirty="0">
                <a:solidFill>
                  <a:srgbClr val="1B4332"/>
                </a:solidFill>
                <a:latin typeface="Calibri" pitchFamily="34" charset="0"/>
                <a:ea typeface="Calibri" pitchFamily="34" charset="-122"/>
                <a:cs typeface="Calibri" pitchFamily="34" charset="-120"/>
              </a:rPr>
              <a:t>Evaluación y Propuestas de Mejora</a:t>
            </a:r>
            <a:endParaRPr lang="en-US" sz="1050" dirty="0"/>
          </a:p>
        </p:txBody>
      </p:sp>
      <p:sp>
        <p:nvSpPr>
          <p:cNvPr id="39" name="Text 37"/>
          <p:cNvSpPr/>
          <p:nvPr/>
        </p:nvSpPr>
        <p:spPr>
          <a:xfrm>
            <a:off x="9687154" y="4526280"/>
            <a:ext cx="1724558" cy="1554480"/>
          </a:xfrm>
          <a:prstGeom prst="rect">
            <a:avLst/>
          </a:prstGeom>
          <a:noFill/>
          <a:ln/>
        </p:spPr>
        <p:txBody>
          <a:bodyPr wrap="square" rtlCol="0" anchor="t"/>
          <a:lstStyle/>
          <a:p>
            <a:pPr marL="0" indent="0" algn="ctr">
              <a:buNone/>
            </a:pPr>
            <a:r>
              <a:rPr lang="en-US" sz="1000" dirty="0">
                <a:solidFill>
                  <a:srgbClr val="5B6B60"/>
                </a:solidFill>
                <a:latin typeface="Calibri" pitchFamily="34" charset="0"/>
                <a:ea typeface="Calibri" pitchFamily="34" charset="-122"/>
                <a:cs typeface="Calibri" pitchFamily="34" charset="-120"/>
              </a:rPr>
              <a:t>Estrategias de reducción, recomendaciones y revisión final.</a:t>
            </a:r>
            <a:endParaRPr lang="en-US" sz="1000" dirty="0"/>
          </a:p>
        </p:txBody>
      </p:sp>
      <p:sp>
        <p:nvSpPr>
          <p:cNvPr id="40" name="Text 38"/>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41" name="Text 39"/>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03</a:t>
            </a:r>
            <a:endParaRPr lang="en-US" sz="1600" dirty="0"/>
          </a:p>
        </p:txBody>
      </p:sp>
      <p:sp>
        <p:nvSpPr>
          <p:cNvPr id="3" name="Text 1"/>
          <p:cNvSpPr/>
          <p:nvPr/>
        </p:nvSpPr>
        <p:spPr>
          <a:xfrm>
            <a:off x="640080" y="822960"/>
            <a:ext cx="10515600"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El desafío: la falla de mercado del reciclaje</a:t>
            </a:r>
            <a:endParaRPr lang="en-US" sz="3000" dirty="0"/>
          </a:p>
        </p:txBody>
      </p:sp>
      <p:sp>
        <p:nvSpPr>
          <p:cNvPr id="4" name="Shape 2"/>
          <p:cNvSpPr/>
          <p:nvPr/>
        </p:nvSpPr>
        <p:spPr>
          <a:xfrm>
            <a:off x="640080" y="1737360"/>
            <a:ext cx="5486400" cy="1234440"/>
          </a:xfrm>
          <a:prstGeom prst="roundRect">
            <a:avLst>
              <a:gd name="adj" fmla="val 6667"/>
            </a:avLst>
          </a:prstGeom>
          <a:solidFill>
            <a:srgbClr val="FFFFFF"/>
          </a:solidFill>
          <a:ln w="12700">
            <a:solidFill>
              <a:srgbClr val="D8E2DB"/>
            </a:solidFill>
            <a:prstDash val="solid"/>
          </a:ln>
        </p:spPr>
      </p:sp>
      <p:sp>
        <p:nvSpPr>
          <p:cNvPr id="5" name="Text 3"/>
          <p:cNvSpPr/>
          <p:nvPr/>
        </p:nvSpPr>
        <p:spPr>
          <a:xfrm>
            <a:off x="868680" y="1847088"/>
            <a:ext cx="1828800" cy="100584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8.99M t</a:t>
            </a:r>
            <a:endParaRPr lang="en-US" sz="3200" dirty="0"/>
          </a:p>
        </p:txBody>
      </p:sp>
      <p:sp>
        <p:nvSpPr>
          <p:cNvPr id="6" name="Text 4"/>
          <p:cNvSpPr/>
          <p:nvPr/>
        </p:nvSpPr>
        <p:spPr>
          <a:xfrm>
            <a:off x="2697480" y="1847088"/>
            <a:ext cx="3291840" cy="100584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residuos sólidos municipales generados en 2024 (MINAM)</a:t>
            </a:r>
            <a:endParaRPr lang="en-US" sz="1200" dirty="0"/>
          </a:p>
        </p:txBody>
      </p:sp>
      <p:sp>
        <p:nvSpPr>
          <p:cNvPr id="7" name="Shape 5"/>
          <p:cNvSpPr/>
          <p:nvPr/>
        </p:nvSpPr>
        <p:spPr>
          <a:xfrm>
            <a:off x="640080" y="3154680"/>
            <a:ext cx="5486400" cy="1234440"/>
          </a:xfrm>
          <a:prstGeom prst="roundRect">
            <a:avLst>
              <a:gd name="adj" fmla="val 6667"/>
            </a:avLst>
          </a:prstGeom>
          <a:solidFill>
            <a:srgbClr val="FFFFFF"/>
          </a:solidFill>
          <a:ln w="12700">
            <a:solidFill>
              <a:srgbClr val="D8E2DB"/>
            </a:solidFill>
            <a:prstDash val="solid"/>
          </a:ln>
        </p:spPr>
      </p:sp>
      <p:sp>
        <p:nvSpPr>
          <p:cNvPr id="8" name="Text 6"/>
          <p:cNvSpPr/>
          <p:nvPr/>
        </p:nvSpPr>
        <p:spPr>
          <a:xfrm>
            <a:off x="868680" y="3264408"/>
            <a:ext cx="1828800" cy="100584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2.7%</a:t>
            </a:r>
            <a:endParaRPr lang="en-US" sz="3200" dirty="0"/>
          </a:p>
        </p:txBody>
      </p:sp>
      <p:sp>
        <p:nvSpPr>
          <p:cNvPr id="9" name="Text 7"/>
          <p:cNvSpPr/>
          <p:nvPr/>
        </p:nvSpPr>
        <p:spPr>
          <a:xfrm>
            <a:off x="2697480" y="3264408"/>
            <a:ext cx="3291840" cy="100584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tasa de valorización formal real (reciclaje/compostaje)</a:t>
            </a:r>
            <a:endParaRPr lang="en-US" sz="1200" dirty="0"/>
          </a:p>
        </p:txBody>
      </p:sp>
      <p:sp>
        <p:nvSpPr>
          <p:cNvPr id="10" name="Shape 8"/>
          <p:cNvSpPr/>
          <p:nvPr/>
        </p:nvSpPr>
        <p:spPr>
          <a:xfrm>
            <a:off x="640080" y="4572000"/>
            <a:ext cx="5486400" cy="1234440"/>
          </a:xfrm>
          <a:prstGeom prst="roundRect">
            <a:avLst>
              <a:gd name="adj" fmla="val 6667"/>
            </a:avLst>
          </a:prstGeom>
          <a:solidFill>
            <a:srgbClr val="FFFFFF"/>
          </a:solidFill>
          <a:ln w="12700">
            <a:solidFill>
              <a:srgbClr val="D8E2DB"/>
            </a:solidFill>
            <a:prstDash val="solid"/>
          </a:ln>
        </p:spPr>
      </p:sp>
      <p:sp>
        <p:nvSpPr>
          <p:cNvPr id="11" name="Text 9"/>
          <p:cNvSpPr/>
          <p:nvPr/>
        </p:nvSpPr>
        <p:spPr>
          <a:xfrm>
            <a:off x="868680" y="4681728"/>
            <a:ext cx="1828800" cy="100584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+26.1%</a:t>
            </a:r>
            <a:endParaRPr lang="en-US" sz="3200" dirty="0"/>
          </a:p>
        </p:txBody>
      </p:sp>
      <p:sp>
        <p:nvSpPr>
          <p:cNvPr id="12" name="Text 10"/>
          <p:cNvSpPr/>
          <p:nvPr/>
        </p:nvSpPr>
        <p:spPr>
          <a:xfrm>
            <a:off x="2697480" y="4681728"/>
            <a:ext cx="3291840" cy="100584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incremento de generación de residuos entre 2014–2023 (CEPLAN)</a:t>
            </a:r>
            <a:endParaRPr lang="en-US" sz="1200" dirty="0"/>
          </a:p>
        </p:txBody>
      </p:sp>
      <p:sp>
        <p:nvSpPr>
          <p:cNvPr id="13" name="Shape 11"/>
          <p:cNvSpPr/>
          <p:nvPr/>
        </p:nvSpPr>
        <p:spPr>
          <a:xfrm>
            <a:off x="6400800" y="1737360"/>
            <a:ext cx="5120640" cy="4297680"/>
          </a:xfrm>
          <a:prstGeom prst="roundRect">
            <a:avLst>
              <a:gd name="adj" fmla="val 2128"/>
            </a:avLst>
          </a:prstGeom>
          <a:solidFill>
            <a:srgbClr val="1B4332"/>
          </a:solidFill>
          <a:ln/>
        </p:spPr>
      </p:sp>
      <p:sp>
        <p:nvSpPr>
          <p:cNvPr id="14" name="Text 12"/>
          <p:cNvSpPr/>
          <p:nvPr/>
        </p:nvSpPr>
        <p:spPr>
          <a:xfrm>
            <a:off x="6720840" y="1965960"/>
            <a:ext cx="4572000" cy="822960"/>
          </a:xfrm>
          <a:prstGeom prst="rect">
            <a:avLst/>
          </a:prstGeom>
          <a:noFill/>
          <a:ln/>
        </p:spPr>
        <p:txBody>
          <a:bodyPr wrap="square" rtlCol="0" anchor="ctr"/>
          <a:lstStyle/>
          <a:p>
            <a:pPr marL="0" indent="0">
              <a:buNone/>
            </a:pPr>
            <a:r>
              <a:rPr lang="en-US" sz="1800" b="1" dirty="0">
                <a:solidFill>
                  <a:srgbClr val="E9B949"/>
                </a:solidFill>
                <a:latin typeface="Cambria" pitchFamily="34" charset="0"/>
                <a:ea typeface="Cambria" pitchFamily="34" charset="-122"/>
                <a:cs typeface="Cambria" pitchFamily="34" charset="-120"/>
              </a:rPr>
              <a:t>No es falta de valores —</a:t>
            </a:r>
            <a:endParaRPr lang="en-US" sz="1800" dirty="0"/>
          </a:p>
          <a:p>
            <a:pPr marL="0" indent="0">
              <a:buNone/>
            </a:pPr>
            <a:r>
              <a:rPr lang="en-US" sz="1800" b="1" dirty="0">
                <a:solidFill>
                  <a:srgbClr val="E9B949"/>
                </a:solidFill>
                <a:latin typeface="Cambria" pitchFamily="34" charset="0"/>
                <a:ea typeface="Cambria" pitchFamily="34" charset="-122"/>
                <a:cs typeface="Cambria" pitchFamily="34" charset="-120"/>
              </a:rPr>
              <a:t>es una falla de mercado</a:t>
            </a:r>
            <a:endParaRPr lang="en-US" sz="1800" dirty="0"/>
          </a:p>
        </p:txBody>
      </p:sp>
      <p:sp>
        <p:nvSpPr>
          <p:cNvPr id="15" name="Text 13"/>
          <p:cNvSpPr/>
          <p:nvPr/>
        </p:nvSpPr>
        <p:spPr>
          <a:xfrm>
            <a:off x="6720840" y="2834640"/>
            <a:ext cx="4572000" cy="1188720"/>
          </a:xfrm>
          <a:prstGeom prst="rect">
            <a:avLst/>
          </a:prstGeom>
          <a:noFill/>
          <a:ln/>
        </p:spPr>
        <p:txBody>
          <a:bodyPr wrap="square" rtlCol="0" anchor="ctr"/>
          <a:lstStyle/>
          <a:p>
            <a:pPr marL="0" indent="0">
              <a:buNone/>
            </a:pPr>
            <a:r>
              <a:rPr lang="en-US" sz="1300" dirty="0">
                <a:solidFill>
                  <a:srgbClr val="E4EFE8"/>
                </a:solidFill>
                <a:latin typeface="Calibri" pitchFamily="34" charset="0"/>
                <a:ea typeface="Calibri" pitchFamily="34" charset="-122"/>
                <a:cs typeface="Calibri" pitchFamily="34" charset="-120"/>
              </a:rPr>
              <a:t>Desde la consultoría en economía aplicada, identificamos que el déficit de reciclaje es una respuesta racional ante fallas de mercado no resueltas — no un problema de conciencia ambiental.</a:t>
            </a:r>
            <a:endParaRPr lang="en-US" sz="1300" dirty="0"/>
          </a:p>
        </p:txBody>
      </p:sp>
      <p:sp>
        <p:nvSpPr>
          <p:cNvPr id="16" name="Text 14"/>
          <p:cNvSpPr/>
          <p:nvPr/>
        </p:nvSpPr>
        <p:spPr>
          <a:xfrm>
            <a:off x="6720840" y="4114800"/>
            <a:ext cx="4572000" cy="1097280"/>
          </a:xfrm>
          <a:prstGeom prst="rect">
            <a:avLst/>
          </a:prstGeom>
          <a:noFill/>
          <a:ln/>
        </p:spPr>
        <p:txBody>
          <a:bodyPr wrap="square" rtlCol="0" anchor="ctr"/>
          <a:lstStyle/>
          <a:p>
            <a:pPr marL="0" indent="0">
              <a:buNone/>
            </a:pPr>
            <a:r>
              <a:rPr lang="en-US" sz="1300" i="1" dirty="0">
                <a:solidFill>
                  <a:srgbClr val="74C69D"/>
                </a:solidFill>
                <a:latin typeface="Calibri" pitchFamily="34" charset="0"/>
                <a:ea typeface="Calibri" pitchFamily="34" charset="-122"/>
                <a:cs typeface="Calibri" pitchFamily="34" charset="-120"/>
              </a:rPr>
              <a:t>En los entornos académicos, esta ineficiencia representa una fuente crítica de emisiones de Alcance 3 (emisiones indirectas de la cadena de valor y disposición final).</a:t>
            </a:r>
            <a:endParaRPr lang="en-US" sz="1300" dirty="0"/>
          </a:p>
        </p:txBody>
      </p:sp>
      <p:sp>
        <p:nvSpPr>
          <p:cNvPr id="17" name="Shape 15"/>
          <p:cNvSpPr/>
          <p:nvPr/>
        </p:nvSpPr>
        <p:spPr>
          <a:xfrm>
            <a:off x="6720840" y="5257800"/>
            <a:ext cx="4572000" cy="0"/>
          </a:xfrm>
          <a:prstGeom prst="line">
            <a:avLst/>
          </a:prstGeom>
          <a:noFill/>
          <a:ln w="12700">
            <a:solidFill>
              <a:srgbClr val="3A6B54"/>
            </a:solidFill>
            <a:prstDash val="solid"/>
          </a:ln>
        </p:spPr>
      </p:sp>
      <p:sp>
        <p:nvSpPr>
          <p:cNvPr id="18" name="Text 16"/>
          <p:cNvSpPr/>
          <p:nvPr/>
        </p:nvSpPr>
        <p:spPr>
          <a:xfrm>
            <a:off x="6720840" y="5394960"/>
            <a:ext cx="4572000" cy="548640"/>
          </a:xfrm>
          <a:prstGeom prst="rect">
            <a:avLst/>
          </a:prstGeom>
          <a:noFill/>
          <a:ln/>
        </p:spPr>
        <p:txBody>
          <a:bodyPr wrap="square" rtlCol="0" anchor="ctr"/>
          <a:lstStyle/>
          <a:p>
            <a:pPr marL="0" indent="0">
              <a:buNone/>
            </a:pPr>
            <a:r>
              <a:rPr lang="en-US" sz="1100" i="1" dirty="0">
                <a:solidFill>
                  <a:srgbClr val="BFD8CB"/>
                </a:solidFill>
                <a:latin typeface="Calibri" pitchFamily="34" charset="0"/>
                <a:ea typeface="Calibri" pitchFamily="34" charset="-122"/>
                <a:cs typeface="Calibri" pitchFamily="34" charset="-120"/>
              </a:rPr>
              <a:t>63.25% “manejado adecuadamente” (relleno sanitario) ≠ reciclado. La valorización efectiva sigue siendo marginal.</a:t>
            </a:r>
            <a:endParaRPr lang="en-US" sz="1100" dirty="0"/>
          </a:p>
        </p:txBody>
      </p:sp>
      <p:sp>
        <p:nvSpPr>
          <p:cNvPr id="19" name="Text 17"/>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0" name="Text 18"/>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03</a:t>
            </a:r>
            <a:endParaRPr lang="en-US" sz="1600" dirty="0"/>
          </a:p>
        </p:txBody>
      </p:sp>
      <p:sp>
        <p:nvSpPr>
          <p:cNvPr id="3" name="Text 1"/>
          <p:cNvSpPr/>
          <p:nvPr/>
        </p:nvSpPr>
        <p:spPr>
          <a:xfrm>
            <a:off x="640080" y="822960"/>
            <a:ext cx="10515600" cy="640080"/>
          </a:xfrm>
          <a:prstGeom prst="rect">
            <a:avLst/>
          </a:prstGeom>
          <a:noFill/>
          <a:ln/>
        </p:spPr>
        <p:txBody>
          <a:bodyPr wrap="square" rtlCol="0" anchor="ctr"/>
          <a:lstStyle/>
          <a:p>
            <a:pPr marL="0" indent="0">
              <a:buNone/>
            </a:pPr>
            <a:r>
              <a:rPr lang="en-US" sz="2800" b="1" dirty="0">
                <a:solidFill>
                  <a:srgbClr val="1B4332"/>
                </a:solidFill>
                <a:latin typeface="Cambria" pitchFamily="34" charset="0"/>
                <a:ea typeface="Cambria" pitchFamily="34" charset="-122"/>
                <a:cs typeface="Cambria" pitchFamily="34" charset="-120"/>
              </a:rPr>
              <a:t>Tres fallas de mercado, tres soluciones on-chain</a:t>
            </a:r>
            <a:endParaRPr lang="en-US" sz="2800" dirty="0"/>
          </a:p>
        </p:txBody>
      </p:sp>
      <p:sp>
        <p:nvSpPr>
          <p:cNvPr id="4" name="Shape 2"/>
          <p:cNvSpPr/>
          <p:nvPr/>
        </p:nvSpPr>
        <p:spPr>
          <a:xfrm>
            <a:off x="640080" y="1691640"/>
            <a:ext cx="3422904" cy="4251960"/>
          </a:xfrm>
          <a:prstGeom prst="roundRect">
            <a:avLst>
              <a:gd name="adj" fmla="val 2671"/>
            </a:avLst>
          </a:prstGeom>
          <a:solidFill>
            <a:srgbClr val="FFFFFF"/>
          </a:solidFill>
          <a:ln w="12700">
            <a:solidFill>
              <a:srgbClr val="D8E2DB"/>
            </a:solidFill>
            <a:prstDash val="solid"/>
          </a:ln>
        </p:spPr>
      </p:sp>
      <p:sp>
        <p:nvSpPr>
          <p:cNvPr id="5" name="Shape 3"/>
          <p:cNvSpPr/>
          <p:nvPr/>
        </p:nvSpPr>
        <p:spPr>
          <a:xfrm>
            <a:off x="640080" y="1691640"/>
            <a:ext cx="3422904" cy="109728"/>
          </a:xfrm>
          <a:prstGeom prst="roundRect">
            <a:avLst/>
          </a:prstGeom>
          <a:solidFill>
            <a:srgbClr val="74C69D"/>
          </a:solidFill>
          <a:ln/>
        </p:spPr>
      </p:sp>
      <p:sp>
        <p:nvSpPr>
          <p:cNvPr id="6" name="Shape 4"/>
          <p:cNvSpPr/>
          <p:nvPr/>
        </p:nvSpPr>
        <p:spPr>
          <a:xfrm>
            <a:off x="960120" y="2057400"/>
            <a:ext cx="594360" cy="594360"/>
          </a:xfrm>
          <a:prstGeom prst="ellipse">
            <a:avLst/>
          </a:prstGeom>
          <a:solidFill>
            <a:srgbClr val="1B4332"/>
          </a:solidFill>
          <a:ln/>
        </p:spPr>
      </p:sp>
      <p:sp>
        <p:nvSpPr>
          <p:cNvPr id="7" name="Text 5"/>
          <p:cNvSpPr/>
          <p:nvPr/>
        </p:nvSpPr>
        <p:spPr>
          <a:xfrm>
            <a:off x="960120" y="2057400"/>
            <a:ext cx="594360" cy="59436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960120" y="2743200"/>
            <a:ext cx="2782824" cy="36576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Pigou (1920)</a:t>
            </a:r>
            <a:endParaRPr lang="en-US" sz="1700" dirty="0"/>
          </a:p>
        </p:txBody>
      </p:sp>
      <p:sp>
        <p:nvSpPr>
          <p:cNvPr id="9" name="Text 7"/>
          <p:cNvSpPr/>
          <p:nvPr/>
        </p:nvSpPr>
        <p:spPr>
          <a:xfrm>
            <a:off x="960120" y="3108960"/>
            <a:ext cx="2782824" cy="320040"/>
          </a:xfrm>
          <a:prstGeom prst="rect">
            <a:avLst/>
          </a:prstGeom>
          <a:noFill/>
          <a:ln/>
        </p:spPr>
        <p:txBody>
          <a:bodyPr wrap="square" rtlCol="0" anchor="ctr"/>
          <a:lstStyle/>
          <a:p>
            <a:pPr marL="0" indent="0">
              <a:buNone/>
            </a:pPr>
            <a:r>
              <a:rPr lang="en-US" sz="1100" b="1" kern="0" spc="100" dirty="0">
                <a:solidFill>
                  <a:srgbClr val="5B6B60"/>
                </a:solidFill>
                <a:latin typeface="Calibri" pitchFamily="34" charset="0"/>
                <a:ea typeface="Calibri" pitchFamily="34" charset="-122"/>
                <a:cs typeface="Calibri" pitchFamily="34" charset="-120"/>
              </a:rPr>
              <a:t>EXTERNALIDADES NEGATIVAS</a:t>
            </a:r>
            <a:endParaRPr lang="en-US" sz="1100" dirty="0"/>
          </a:p>
        </p:txBody>
      </p:sp>
      <p:sp>
        <p:nvSpPr>
          <p:cNvPr id="10" name="Shape 8"/>
          <p:cNvSpPr/>
          <p:nvPr/>
        </p:nvSpPr>
        <p:spPr>
          <a:xfrm>
            <a:off x="960120" y="3520440"/>
            <a:ext cx="2782824" cy="0"/>
          </a:xfrm>
          <a:prstGeom prst="line">
            <a:avLst/>
          </a:prstGeom>
          <a:noFill/>
          <a:ln w="12700">
            <a:solidFill>
              <a:srgbClr val="E4EAE5"/>
            </a:solidFill>
            <a:prstDash val="solid"/>
          </a:ln>
        </p:spPr>
      </p:sp>
      <p:sp>
        <p:nvSpPr>
          <p:cNvPr id="11" name="Text 9"/>
          <p:cNvSpPr/>
          <p:nvPr/>
        </p:nvSpPr>
        <p:spPr>
          <a:xfrm>
            <a:off x="960120" y="3657600"/>
            <a:ext cx="2782824" cy="2148840"/>
          </a:xfrm>
          <a:prstGeom prst="rect">
            <a:avLst/>
          </a:prstGeom>
          <a:noFill/>
          <a:ln/>
        </p:spPr>
        <p:txBody>
          <a:bodyPr wrap="square" rtlCol="0" anchor="t"/>
          <a:lstStyle/>
          <a:p>
            <a:pPr marL="0" indent="0">
              <a:buNone/>
            </a:pPr>
            <a:r>
              <a:rPr lang="en-US" sz="1250" dirty="0">
                <a:solidFill>
                  <a:srgbClr val="1A1F1B"/>
                </a:solidFill>
                <a:latin typeface="Calibri" pitchFamily="34" charset="0"/>
                <a:ea typeface="Calibri" pitchFamily="34" charset="-122"/>
                <a:cs typeface="Calibri" pitchFamily="34" charset="-120"/>
              </a:rPr>
              <a:t>El costo privado de botar la basura es casi nulo frente a un alto costo social. Eco-Carbón actúa como subsidio pigouviano digital.</a:t>
            </a:r>
            <a:endParaRPr lang="en-US" sz="1250" dirty="0"/>
          </a:p>
        </p:txBody>
      </p:sp>
      <p:sp>
        <p:nvSpPr>
          <p:cNvPr id="12" name="Shape 10"/>
          <p:cNvSpPr/>
          <p:nvPr/>
        </p:nvSpPr>
        <p:spPr>
          <a:xfrm>
            <a:off x="4383024" y="1691640"/>
            <a:ext cx="3422904" cy="4251960"/>
          </a:xfrm>
          <a:prstGeom prst="roundRect">
            <a:avLst>
              <a:gd name="adj" fmla="val 2671"/>
            </a:avLst>
          </a:prstGeom>
          <a:solidFill>
            <a:srgbClr val="FFFFFF"/>
          </a:solidFill>
          <a:ln w="12700">
            <a:solidFill>
              <a:srgbClr val="D8E2DB"/>
            </a:solidFill>
            <a:prstDash val="solid"/>
          </a:ln>
        </p:spPr>
      </p:sp>
      <p:sp>
        <p:nvSpPr>
          <p:cNvPr id="13" name="Shape 11"/>
          <p:cNvSpPr/>
          <p:nvPr/>
        </p:nvSpPr>
        <p:spPr>
          <a:xfrm>
            <a:off x="4383024" y="1691640"/>
            <a:ext cx="3422904" cy="109728"/>
          </a:xfrm>
          <a:prstGeom prst="roundRect">
            <a:avLst/>
          </a:prstGeom>
          <a:solidFill>
            <a:srgbClr val="74C69D"/>
          </a:solidFill>
          <a:ln/>
        </p:spPr>
      </p:sp>
      <p:sp>
        <p:nvSpPr>
          <p:cNvPr id="14" name="Shape 12"/>
          <p:cNvSpPr/>
          <p:nvPr/>
        </p:nvSpPr>
        <p:spPr>
          <a:xfrm>
            <a:off x="4703064" y="2057400"/>
            <a:ext cx="594360" cy="594360"/>
          </a:xfrm>
          <a:prstGeom prst="ellipse">
            <a:avLst/>
          </a:prstGeom>
          <a:solidFill>
            <a:srgbClr val="1B4332"/>
          </a:solidFill>
          <a:ln/>
        </p:spPr>
      </p:sp>
      <p:sp>
        <p:nvSpPr>
          <p:cNvPr id="15" name="Text 13"/>
          <p:cNvSpPr/>
          <p:nvPr/>
        </p:nvSpPr>
        <p:spPr>
          <a:xfrm>
            <a:off x="4703064" y="2057400"/>
            <a:ext cx="594360" cy="59436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4703064" y="2743200"/>
            <a:ext cx="2782824" cy="36576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Coase (1960)</a:t>
            </a:r>
            <a:endParaRPr lang="en-US" sz="1700" dirty="0"/>
          </a:p>
        </p:txBody>
      </p:sp>
      <p:sp>
        <p:nvSpPr>
          <p:cNvPr id="17" name="Text 15"/>
          <p:cNvSpPr/>
          <p:nvPr/>
        </p:nvSpPr>
        <p:spPr>
          <a:xfrm>
            <a:off x="4703064" y="3108960"/>
            <a:ext cx="2782824" cy="320040"/>
          </a:xfrm>
          <a:prstGeom prst="rect">
            <a:avLst/>
          </a:prstGeom>
          <a:noFill/>
          <a:ln/>
        </p:spPr>
        <p:txBody>
          <a:bodyPr wrap="square" rtlCol="0" anchor="ctr"/>
          <a:lstStyle/>
          <a:p>
            <a:pPr marL="0" indent="0">
              <a:buNone/>
            </a:pPr>
            <a:r>
              <a:rPr lang="en-US" sz="1100" b="1" kern="0" spc="100" dirty="0">
                <a:solidFill>
                  <a:srgbClr val="5B6B60"/>
                </a:solidFill>
                <a:latin typeface="Calibri" pitchFamily="34" charset="0"/>
                <a:ea typeface="Calibri" pitchFamily="34" charset="-122"/>
                <a:cs typeface="Calibri" pitchFamily="34" charset="-120"/>
              </a:rPr>
              <a:t>COSTOS DE TRANSACCIÓN</a:t>
            </a:r>
            <a:endParaRPr lang="en-US" sz="1100" dirty="0"/>
          </a:p>
        </p:txBody>
      </p:sp>
      <p:sp>
        <p:nvSpPr>
          <p:cNvPr id="18" name="Shape 16"/>
          <p:cNvSpPr/>
          <p:nvPr/>
        </p:nvSpPr>
        <p:spPr>
          <a:xfrm>
            <a:off x="4703064" y="3520440"/>
            <a:ext cx="2782824" cy="0"/>
          </a:xfrm>
          <a:prstGeom prst="line">
            <a:avLst/>
          </a:prstGeom>
          <a:noFill/>
          <a:ln w="12700">
            <a:solidFill>
              <a:srgbClr val="E4EAE5"/>
            </a:solidFill>
            <a:prstDash val="solid"/>
          </a:ln>
        </p:spPr>
      </p:sp>
      <p:sp>
        <p:nvSpPr>
          <p:cNvPr id="19" name="Text 17"/>
          <p:cNvSpPr/>
          <p:nvPr/>
        </p:nvSpPr>
        <p:spPr>
          <a:xfrm>
            <a:off x="4703064" y="3657600"/>
            <a:ext cx="2782824" cy="2148840"/>
          </a:xfrm>
          <a:prstGeom prst="rect">
            <a:avLst/>
          </a:prstGeom>
          <a:noFill/>
          <a:ln/>
        </p:spPr>
        <p:txBody>
          <a:bodyPr wrap="square" rtlCol="0" anchor="t"/>
          <a:lstStyle/>
          <a:p>
            <a:pPr marL="0" indent="0">
              <a:buNone/>
            </a:pPr>
            <a:r>
              <a:rPr lang="en-US" sz="1250" dirty="0">
                <a:solidFill>
                  <a:srgbClr val="1A1F1B"/>
                </a:solidFill>
                <a:latin typeface="Calibri" pitchFamily="34" charset="0"/>
                <a:ea typeface="Calibri" pitchFamily="34" charset="-122"/>
                <a:cs typeface="Calibri" pitchFamily="34" charset="-120"/>
              </a:rPr>
              <a:t>Segregar en la fuente impone un costo de oportunidad al estudiante. La interfaz Web3 reduce la fricción y compensa el esfuerzo de inmediato.</a:t>
            </a:r>
            <a:endParaRPr lang="en-US" sz="1250" dirty="0"/>
          </a:p>
        </p:txBody>
      </p:sp>
      <p:sp>
        <p:nvSpPr>
          <p:cNvPr id="20" name="Shape 18"/>
          <p:cNvSpPr/>
          <p:nvPr/>
        </p:nvSpPr>
        <p:spPr>
          <a:xfrm>
            <a:off x="8125968" y="1691640"/>
            <a:ext cx="3422904" cy="4251960"/>
          </a:xfrm>
          <a:prstGeom prst="roundRect">
            <a:avLst>
              <a:gd name="adj" fmla="val 2671"/>
            </a:avLst>
          </a:prstGeom>
          <a:solidFill>
            <a:srgbClr val="FFFFFF"/>
          </a:solidFill>
          <a:ln w="12700">
            <a:solidFill>
              <a:srgbClr val="D8E2DB"/>
            </a:solidFill>
            <a:prstDash val="solid"/>
          </a:ln>
        </p:spPr>
      </p:sp>
      <p:sp>
        <p:nvSpPr>
          <p:cNvPr id="21" name="Shape 19"/>
          <p:cNvSpPr/>
          <p:nvPr/>
        </p:nvSpPr>
        <p:spPr>
          <a:xfrm>
            <a:off x="8125968" y="1691640"/>
            <a:ext cx="3422904" cy="109728"/>
          </a:xfrm>
          <a:prstGeom prst="roundRect">
            <a:avLst/>
          </a:prstGeom>
          <a:solidFill>
            <a:srgbClr val="74C69D"/>
          </a:solidFill>
          <a:ln/>
        </p:spPr>
      </p:sp>
      <p:sp>
        <p:nvSpPr>
          <p:cNvPr id="22" name="Shape 20"/>
          <p:cNvSpPr/>
          <p:nvPr/>
        </p:nvSpPr>
        <p:spPr>
          <a:xfrm>
            <a:off x="8446008" y="2057400"/>
            <a:ext cx="594360" cy="594360"/>
          </a:xfrm>
          <a:prstGeom prst="ellipse">
            <a:avLst/>
          </a:prstGeom>
          <a:solidFill>
            <a:srgbClr val="1B4332"/>
          </a:solidFill>
          <a:ln/>
        </p:spPr>
      </p:sp>
      <p:sp>
        <p:nvSpPr>
          <p:cNvPr id="23" name="Text 21"/>
          <p:cNvSpPr/>
          <p:nvPr/>
        </p:nvSpPr>
        <p:spPr>
          <a:xfrm>
            <a:off x="8446008" y="2057400"/>
            <a:ext cx="594360" cy="594360"/>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3</a:t>
            </a:r>
            <a:endParaRPr lang="en-US" sz="2000" dirty="0"/>
          </a:p>
        </p:txBody>
      </p:sp>
      <p:sp>
        <p:nvSpPr>
          <p:cNvPr id="24" name="Text 22"/>
          <p:cNvSpPr/>
          <p:nvPr/>
        </p:nvSpPr>
        <p:spPr>
          <a:xfrm>
            <a:off x="8446008" y="2743200"/>
            <a:ext cx="2782824" cy="36576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Akerlof (1970)</a:t>
            </a:r>
            <a:endParaRPr lang="en-US" sz="1700" dirty="0"/>
          </a:p>
        </p:txBody>
      </p:sp>
      <p:sp>
        <p:nvSpPr>
          <p:cNvPr id="25" name="Text 23"/>
          <p:cNvSpPr/>
          <p:nvPr/>
        </p:nvSpPr>
        <p:spPr>
          <a:xfrm>
            <a:off x="8446008" y="3108960"/>
            <a:ext cx="2782824" cy="320040"/>
          </a:xfrm>
          <a:prstGeom prst="rect">
            <a:avLst/>
          </a:prstGeom>
          <a:noFill/>
          <a:ln/>
        </p:spPr>
        <p:txBody>
          <a:bodyPr wrap="square" rtlCol="0" anchor="ctr"/>
          <a:lstStyle/>
          <a:p>
            <a:pPr marL="0" indent="0">
              <a:buNone/>
            </a:pPr>
            <a:r>
              <a:rPr lang="en-US" sz="1100" b="1" kern="0" spc="100" dirty="0">
                <a:solidFill>
                  <a:srgbClr val="5B6B60"/>
                </a:solidFill>
                <a:latin typeface="Calibri" pitchFamily="34" charset="0"/>
                <a:ea typeface="Calibri" pitchFamily="34" charset="-122"/>
                <a:cs typeface="Calibri" pitchFamily="34" charset="-120"/>
              </a:rPr>
              <a:t>ASIMETRÍA DE INFORMACIÓN</a:t>
            </a:r>
            <a:endParaRPr lang="en-US" sz="1100" dirty="0"/>
          </a:p>
        </p:txBody>
      </p:sp>
      <p:sp>
        <p:nvSpPr>
          <p:cNvPr id="26" name="Shape 24"/>
          <p:cNvSpPr/>
          <p:nvPr/>
        </p:nvSpPr>
        <p:spPr>
          <a:xfrm>
            <a:off x="8446008" y="3520440"/>
            <a:ext cx="2782824" cy="0"/>
          </a:xfrm>
          <a:prstGeom prst="line">
            <a:avLst/>
          </a:prstGeom>
          <a:noFill/>
          <a:ln w="12700">
            <a:solidFill>
              <a:srgbClr val="E4EAE5"/>
            </a:solidFill>
            <a:prstDash val="solid"/>
          </a:ln>
        </p:spPr>
      </p:sp>
      <p:sp>
        <p:nvSpPr>
          <p:cNvPr id="27" name="Text 25"/>
          <p:cNvSpPr/>
          <p:nvPr/>
        </p:nvSpPr>
        <p:spPr>
          <a:xfrm>
            <a:off x="8446008" y="3657600"/>
            <a:ext cx="2782824" cy="2148840"/>
          </a:xfrm>
          <a:prstGeom prst="rect">
            <a:avLst/>
          </a:prstGeom>
          <a:noFill/>
          <a:ln/>
        </p:spPr>
        <p:txBody>
          <a:bodyPr wrap="square" rtlCol="0" anchor="t"/>
          <a:lstStyle/>
          <a:p>
            <a:pPr marL="0" indent="0">
              <a:buNone/>
            </a:pPr>
            <a:r>
              <a:rPr lang="en-US" sz="1250" dirty="0">
                <a:solidFill>
                  <a:srgbClr val="1A1F1B"/>
                </a:solidFill>
                <a:latin typeface="Calibri" pitchFamily="34" charset="0"/>
                <a:ea typeface="Calibri" pitchFamily="34" charset="-122"/>
                <a:cs typeface="Calibri" pitchFamily="34" charset="-120"/>
              </a:rPr>
              <a:t>El “mercado de limones” del reciclaje: nadie confía en el destino del residuo. Blockchain aporta una prueba de reciclaje inmutable.</a:t>
            </a:r>
            <a:endParaRPr lang="en-US" sz="1250" dirty="0"/>
          </a:p>
        </p:txBody>
      </p:sp>
      <p:sp>
        <p:nvSpPr>
          <p:cNvPr id="28" name="Text 26"/>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9" name="Text 27"/>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03</a:t>
            </a:r>
            <a:endParaRPr lang="en-US" sz="1600" dirty="0"/>
          </a:p>
        </p:txBody>
      </p:sp>
      <p:sp>
        <p:nvSpPr>
          <p:cNvPr id="3" name="Text 1"/>
          <p:cNvSpPr/>
          <p:nvPr/>
        </p:nvSpPr>
        <p:spPr>
          <a:xfrm>
            <a:off x="640080" y="822960"/>
            <a:ext cx="10515600" cy="640080"/>
          </a:xfrm>
          <a:prstGeom prst="rect">
            <a:avLst/>
          </a:prstGeom>
          <a:noFill/>
          <a:ln/>
        </p:spPr>
        <p:txBody>
          <a:bodyPr wrap="square" rtlCol="0" anchor="ctr"/>
          <a:lstStyle/>
          <a:p>
            <a:pPr marL="0" indent="0">
              <a:buNone/>
            </a:pPr>
            <a:r>
              <a:rPr lang="en-US" sz="2700" b="1" dirty="0">
                <a:solidFill>
                  <a:srgbClr val="1B4332"/>
                </a:solidFill>
                <a:latin typeface="Cambria" pitchFamily="34" charset="0"/>
                <a:ea typeface="Cambria" pitchFamily="34" charset="-122"/>
                <a:cs typeface="Cambria" pitchFamily="34" charset="-120"/>
              </a:rPr>
              <a:t>Tasa efectiva de valorización de residuos (Perú, 2024)</a:t>
            </a:r>
            <a:endParaRPr lang="en-US" sz="2700" dirty="0"/>
          </a:p>
        </p:txBody>
      </p:sp>
      <p:sp>
        <p:nvSpPr>
          <p:cNvPr id="4" name="Shape 2"/>
          <p:cNvSpPr/>
          <p:nvPr/>
        </p:nvSpPr>
        <p:spPr>
          <a:xfrm>
            <a:off x="640080" y="1600200"/>
            <a:ext cx="6035040" cy="4572000"/>
          </a:xfrm>
          <a:prstGeom prst="roundRect">
            <a:avLst>
              <a:gd name="adj" fmla="val 2000"/>
            </a:avLst>
          </a:prstGeom>
          <a:solidFill>
            <a:srgbClr val="F4F6F1"/>
          </a:solidFill>
          <a:ln w="12700">
            <a:solidFill>
              <a:srgbClr val="D8E2DB"/>
            </a:solidFill>
            <a:prstDash val="solid"/>
          </a:ln>
        </p:spPr>
      </p:sp>
      <p:pic>
        <p:nvPicPr>
          <p:cNvPr id="5" name="Image 0" descr="fig1_valorizacion.png"/>
          <p:cNvPicPr>
            <a:picLocks noChangeAspect="1"/>
          </p:cNvPicPr>
          <p:nvPr/>
        </p:nvPicPr>
        <p:blipFill>
          <a:blip r:embed="rId3"/>
          <a:srcRect/>
          <a:stretch/>
        </p:blipFill>
        <p:spPr>
          <a:xfrm>
            <a:off x="914400" y="1828800"/>
            <a:ext cx="5486400" cy="4114800"/>
          </a:xfrm>
          <a:prstGeom prst="rect">
            <a:avLst/>
          </a:prstGeom>
        </p:spPr>
      </p:pic>
      <p:sp>
        <p:nvSpPr>
          <p:cNvPr id="6" name="Text 3"/>
          <p:cNvSpPr/>
          <p:nvPr/>
        </p:nvSpPr>
        <p:spPr>
          <a:xfrm>
            <a:off x="6949440" y="1828800"/>
            <a:ext cx="4572000" cy="1188720"/>
          </a:xfrm>
          <a:prstGeom prst="rect">
            <a:avLst/>
          </a:prstGeom>
          <a:noFill/>
          <a:ln/>
        </p:spPr>
        <p:txBody>
          <a:bodyPr wrap="square" rtlCol="0" anchor="ctr"/>
          <a:lstStyle/>
          <a:p>
            <a:pPr marL="0" indent="0">
              <a:buNone/>
            </a:pPr>
            <a:r>
              <a:rPr lang="en-US" sz="1500" b="1" dirty="0">
                <a:solidFill>
                  <a:srgbClr val="1A1F1B"/>
                </a:solidFill>
                <a:latin typeface="Calibri" pitchFamily="34" charset="0"/>
                <a:ea typeface="Calibri" pitchFamily="34" charset="-122"/>
                <a:cs typeface="Calibri" pitchFamily="34" charset="-120"/>
              </a:rPr>
              <a:t>Solo 249,407 toneladas de las 8,994,762 generadas fueron valorizadas formalmente mediante reciclaje o compostaje.</a:t>
            </a:r>
            <a:endParaRPr lang="en-US" sz="1500" dirty="0"/>
          </a:p>
        </p:txBody>
      </p:sp>
      <p:sp>
        <p:nvSpPr>
          <p:cNvPr id="7" name="Shape 4"/>
          <p:cNvSpPr/>
          <p:nvPr/>
        </p:nvSpPr>
        <p:spPr>
          <a:xfrm>
            <a:off x="6949440" y="3108960"/>
            <a:ext cx="4572000" cy="1554480"/>
          </a:xfrm>
          <a:prstGeom prst="roundRect">
            <a:avLst>
              <a:gd name="adj" fmla="val 5294"/>
            </a:avLst>
          </a:prstGeom>
          <a:solidFill>
            <a:srgbClr val="1B4332"/>
          </a:solidFill>
          <a:ln/>
        </p:spPr>
      </p:sp>
      <p:sp>
        <p:nvSpPr>
          <p:cNvPr id="8" name="Text 5"/>
          <p:cNvSpPr/>
          <p:nvPr/>
        </p:nvSpPr>
        <p:spPr>
          <a:xfrm>
            <a:off x="7223760" y="3246120"/>
            <a:ext cx="1828800" cy="914400"/>
          </a:xfrm>
          <a:prstGeom prst="rect">
            <a:avLst/>
          </a:prstGeom>
          <a:noFill/>
          <a:ln/>
        </p:spPr>
        <p:txBody>
          <a:bodyPr wrap="square" rtlCol="0" anchor="ctr"/>
          <a:lstStyle/>
          <a:p>
            <a:pPr marL="0" indent="0">
              <a:buNone/>
            </a:pPr>
            <a:r>
              <a:rPr lang="en-US" sz="4000" b="1" dirty="0">
                <a:solidFill>
                  <a:srgbClr val="E9B949"/>
                </a:solidFill>
                <a:latin typeface="Cambria" pitchFamily="34" charset="0"/>
                <a:ea typeface="Cambria" pitchFamily="34" charset="-122"/>
                <a:cs typeface="Cambria" pitchFamily="34" charset="-120"/>
              </a:rPr>
              <a:t>2.7%</a:t>
            </a:r>
            <a:endParaRPr lang="en-US" sz="4000" dirty="0"/>
          </a:p>
        </p:txBody>
      </p:sp>
      <p:sp>
        <p:nvSpPr>
          <p:cNvPr id="9" name="Text 6"/>
          <p:cNvSpPr/>
          <p:nvPr/>
        </p:nvSpPr>
        <p:spPr>
          <a:xfrm>
            <a:off x="9006840" y="3246120"/>
            <a:ext cx="2286000" cy="9144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tasa real de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valorización formal</a:t>
            </a:r>
            <a:endParaRPr lang="en-US" sz="1300" dirty="0"/>
          </a:p>
        </p:txBody>
      </p:sp>
      <p:sp>
        <p:nvSpPr>
          <p:cNvPr id="10" name="Text 7"/>
          <p:cNvSpPr/>
          <p:nvPr/>
        </p:nvSpPr>
        <p:spPr>
          <a:xfrm>
            <a:off x="6949440" y="4937760"/>
            <a:ext cx="4572000" cy="731520"/>
          </a:xfrm>
          <a:prstGeom prst="rect">
            <a:avLst/>
          </a:prstGeom>
          <a:noFill/>
          <a:ln/>
        </p:spPr>
        <p:txBody>
          <a:bodyPr wrap="square" rtlCol="0" anchor="ctr"/>
          <a:lstStyle/>
          <a:p>
            <a:pPr marL="0" indent="0">
              <a:buNone/>
            </a:pPr>
            <a:r>
              <a:rPr lang="en-US" sz="1050" i="1" dirty="0">
                <a:solidFill>
                  <a:srgbClr val="5B6B60"/>
                </a:solidFill>
                <a:latin typeface="Calibri" pitchFamily="34" charset="0"/>
                <a:ea typeface="Calibri" pitchFamily="34" charset="-122"/>
                <a:cs typeface="Calibri" pitchFamily="34" charset="-120"/>
              </a:rPr>
              <a:t>Fuente: Ministerio del Ambiente (MINAM), citado en RCR Perú (2026).</a:t>
            </a:r>
            <a:endParaRPr lang="en-US" sz="1050" dirty="0"/>
          </a:p>
        </p:txBody>
      </p:sp>
      <p:sp>
        <p:nvSpPr>
          <p:cNvPr id="11" name="Text 8"/>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12" name="Text 9"/>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E9B949"/>
                </a:solidFill>
                <a:latin typeface="Cambria" pitchFamily="34" charset="0"/>
                <a:ea typeface="Cambria" pitchFamily="34" charset="-122"/>
                <a:cs typeface="Cambria" pitchFamily="34" charset="-120"/>
              </a:rPr>
              <a:t>04</a:t>
            </a:r>
            <a:endParaRPr lang="en-US" sz="16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Resumen de la solución</a:t>
            </a:r>
            <a:endParaRPr lang="en-US" sz="3200" dirty="0"/>
          </a:p>
        </p:txBody>
      </p:sp>
      <p:sp>
        <p:nvSpPr>
          <p:cNvPr id="4" name="Text 2"/>
          <p:cNvSpPr/>
          <p:nvPr/>
        </p:nvSpPr>
        <p:spPr>
          <a:xfrm>
            <a:off x="640080" y="1600200"/>
            <a:ext cx="10881360" cy="914400"/>
          </a:xfrm>
          <a:prstGeom prst="rect">
            <a:avLst/>
          </a:prstGeom>
          <a:noFill/>
          <a:ln/>
        </p:spPr>
        <p:txBody>
          <a:bodyPr wrap="square" rtlCol="0" anchor="ctr"/>
          <a:lstStyle/>
          <a:p>
            <a:pPr marL="0" indent="0">
              <a:buNone/>
            </a:pPr>
            <a:r>
              <a:rPr lang="en-US" sz="1500" dirty="0">
                <a:solidFill>
                  <a:srgbClr val="E4EFE8"/>
                </a:solidFill>
                <a:latin typeface="Calibri" pitchFamily="34" charset="0"/>
                <a:ea typeface="Calibri" pitchFamily="34" charset="-122"/>
                <a:cs typeface="Calibri" pitchFamily="34" charset="-120"/>
              </a:rPr>
              <a:t>Smart Contract compatible con EVM desplegado en la red LNet, que acuña y asigna automáticamente Eco-Créditos a las wallets de los estudiantes tras verificarse una acción de reciclaje.</a:t>
            </a:r>
            <a:endParaRPr lang="en-US" sz="1500" dirty="0"/>
          </a:p>
        </p:txBody>
      </p:sp>
      <p:sp>
        <p:nvSpPr>
          <p:cNvPr id="5" name="Shape 3"/>
          <p:cNvSpPr/>
          <p:nvPr/>
        </p:nvSpPr>
        <p:spPr>
          <a:xfrm>
            <a:off x="640080" y="2788920"/>
            <a:ext cx="3422904" cy="3108960"/>
          </a:xfrm>
          <a:prstGeom prst="roundRect">
            <a:avLst>
              <a:gd name="adj" fmla="val 2941"/>
            </a:avLst>
          </a:prstGeom>
          <a:solidFill>
            <a:srgbClr val="22503C"/>
          </a:solidFill>
          <a:ln w="12700">
            <a:solidFill>
              <a:srgbClr val="3A6B54"/>
            </a:solidFill>
            <a:prstDash val="solid"/>
          </a:ln>
        </p:spPr>
      </p:sp>
      <p:sp>
        <p:nvSpPr>
          <p:cNvPr id="6" name="Text 4"/>
          <p:cNvSpPr/>
          <p:nvPr/>
        </p:nvSpPr>
        <p:spPr>
          <a:xfrm>
            <a:off x="914400" y="3017520"/>
            <a:ext cx="2874264" cy="822960"/>
          </a:xfrm>
          <a:prstGeom prst="rect">
            <a:avLst/>
          </a:prstGeom>
          <a:noFill/>
          <a:ln/>
        </p:spPr>
        <p:txBody>
          <a:bodyPr wrap="square" rtlCol="0" anchor="ctr"/>
          <a:lstStyle/>
          <a:p>
            <a:pPr marL="0" indent="0">
              <a:buNone/>
            </a:pPr>
            <a:r>
              <a:rPr lang="en-US" sz="1500" b="1" dirty="0">
                <a:solidFill>
                  <a:srgbClr val="E9B949"/>
                </a:solidFill>
                <a:latin typeface="Calibri" pitchFamily="34" charset="0"/>
                <a:ea typeface="Calibri" pitchFamily="34" charset="-122"/>
                <a:cs typeface="Calibri" pitchFamily="34" charset="-120"/>
              </a:rPr>
              <a:t>Costos de transacción ≈ 0</a:t>
            </a:r>
            <a:endParaRPr lang="en-US" sz="1500" dirty="0"/>
          </a:p>
        </p:txBody>
      </p:sp>
      <p:sp>
        <p:nvSpPr>
          <p:cNvPr id="7" name="Text 5"/>
          <p:cNvSpPr/>
          <p:nvPr/>
        </p:nvSpPr>
        <p:spPr>
          <a:xfrm>
            <a:off x="914400" y="3886200"/>
            <a:ext cx="2874264" cy="1828800"/>
          </a:xfrm>
          <a:prstGeom prst="rect">
            <a:avLst/>
          </a:prstGeom>
          <a:noFill/>
          <a:ln/>
        </p:spPr>
        <p:txBody>
          <a:bodyPr wrap="square" rtlCol="0" anchor="ctr"/>
          <a:lstStyle/>
          <a:p>
            <a:pPr marL="0" indent="0">
              <a:buNone/>
            </a:pPr>
            <a:r>
              <a:rPr lang="en-US" sz="1250" dirty="0">
                <a:solidFill>
                  <a:srgbClr val="DCEAE1"/>
                </a:solidFill>
                <a:latin typeface="Calibri" pitchFamily="34" charset="0"/>
                <a:ea typeface="Calibri" pitchFamily="34" charset="-122"/>
                <a:cs typeface="Calibri" pitchFamily="34" charset="-120"/>
              </a:rPr>
              <a:t>El mecanismo de recompensa codificado en código transparente e inmutable reduce a casi cero los costos de transacción y fiscalización.</a:t>
            </a:r>
            <a:endParaRPr lang="en-US" sz="1250" dirty="0"/>
          </a:p>
        </p:txBody>
      </p:sp>
      <p:sp>
        <p:nvSpPr>
          <p:cNvPr id="8" name="Shape 6"/>
          <p:cNvSpPr/>
          <p:nvPr/>
        </p:nvSpPr>
        <p:spPr>
          <a:xfrm>
            <a:off x="4383024" y="2788920"/>
            <a:ext cx="3422904" cy="3108960"/>
          </a:xfrm>
          <a:prstGeom prst="roundRect">
            <a:avLst>
              <a:gd name="adj" fmla="val 2941"/>
            </a:avLst>
          </a:prstGeom>
          <a:solidFill>
            <a:srgbClr val="22503C"/>
          </a:solidFill>
          <a:ln w="12700">
            <a:solidFill>
              <a:srgbClr val="3A6B54"/>
            </a:solidFill>
            <a:prstDash val="solid"/>
          </a:ln>
        </p:spPr>
      </p:sp>
      <p:sp>
        <p:nvSpPr>
          <p:cNvPr id="9" name="Text 7"/>
          <p:cNvSpPr/>
          <p:nvPr/>
        </p:nvSpPr>
        <p:spPr>
          <a:xfrm>
            <a:off x="4657344" y="3017520"/>
            <a:ext cx="2874264" cy="822960"/>
          </a:xfrm>
          <a:prstGeom prst="rect">
            <a:avLst/>
          </a:prstGeom>
          <a:noFill/>
          <a:ln/>
        </p:spPr>
        <p:txBody>
          <a:bodyPr wrap="square" rtlCol="0" anchor="ctr"/>
          <a:lstStyle/>
          <a:p>
            <a:pPr marL="0" indent="0">
              <a:buNone/>
            </a:pPr>
            <a:r>
              <a:rPr lang="en-US" sz="1500" b="1" dirty="0">
                <a:solidFill>
                  <a:srgbClr val="E9B949"/>
                </a:solidFill>
                <a:latin typeface="Calibri" pitchFamily="34" charset="0"/>
                <a:ea typeface="Calibri" pitchFamily="34" charset="-122"/>
                <a:cs typeface="Calibri" pitchFamily="34" charset="-120"/>
              </a:rPr>
              <a:t>Cierra la brecha de información</a:t>
            </a:r>
            <a:endParaRPr lang="en-US" sz="1500" dirty="0"/>
          </a:p>
        </p:txBody>
      </p:sp>
      <p:sp>
        <p:nvSpPr>
          <p:cNvPr id="10" name="Text 8"/>
          <p:cNvSpPr/>
          <p:nvPr/>
        </p:nvSpPr>
        <p:spPr>
          <a:xfrm>
            <a:off x="4657344" y="3886200"/>
            <a:ext cx="2874264" cy="1828800"/>
          </a:xfrm>
          <a:prstGeom prst="rect">
            <a:avLst/>
          </a:prstGeom>
          <a:noFill/>
          <a:ln/>
        </p:spPr>
        <p:txBody>
          <a:bodyPr wrap="square" rtlCol="0" anchor="ctr"/>
          <a:lstStyle/>
          <a:p>
            <a:pPr marL="0" indent="0">
              <a:buNone/>
            </a:pPr>
            <a:r>
              <a:rPr lang="en-US" sz="1250" dirty="0">
                <a:solidFill>
                  <a:srgbClr val="DCEAE1"/>
                </a:solidFill>
                <a:latin typeface="Calibri" pitchFamily="34" charset="0"/>
                <a:ea typeface="Calibri" pitchFamily="34" charset="-122"/>
                <a:cs typeface="Calibri" pitchFamily="34" charset="-120"/>
              </a:rPr>
              <a:t>El registro on-chain y auditable cierra la brecha entre estudiantes y universidad.</a:t>
            </a:r>
            <a:endParaRPr lang="en-US" sz="1250" dirty="0"/>
          </a:p>
        </p:txBody>
      </p:sp>
      <p:sp>
        <p:nvSpPr>
          <p:cNvPr id="11" name="Shape 9"/>
          <p:cNvSpPr/>
          <p:nvPr/>
        </p:nvSpPr>
        <p:spPr>
          <a:xfrm>
            <a:off x="8125968" y="2788920"/>
            <a:ext cx="3422904" cy="3108960"/>
          </a:xfrm>
          <a:prstGeom prst="roundRect">
            <a:avLst>
              <a:gd name="adj" fmla="val 2941"/>
            </a:avLst>
          </a:prstGeom>
          <a:solidFill>
            <a:srgbClr val="22503C"/>
          </a:solidFill>
          <a:ln w="12700">
            <a:solidFill>
              <a:srgbClr val="3A6B54"/>
            </a:solidFill>
            <a:prstDash val="solid"/>
          </a:ln>
        </p:spPr>
      </p:sp>
      <p:sp>
        <p:nvSpPr>
          <p:cNvPr id="12" name="Text 10"/>
          <p:cNvSpPr/>
          <p:nvPr/>
        </p:nvSpPr>
        <p:spPr>
          <a:xfrm>
            <a:off x="8400288" y="3017520"/>
            <a:ext cx="2874264" cy="822960"/>
          </a:xfrm>
          <a:prstGeom prst="rect">
            <a:avLst/>
          </a:prstGeom>
          <a:noFill/>
          <a:ln/>
        </p:spPr>
        <p:txBody>
          <a:bodyPr wrap="square" rtlCol="0" anchor="ctr"/>
          <a:lstStyle/>
          <a:p>
            <a:pPr marL="0" indent="0">
              <a:buNone/>
            </a:pPr>
            <a:r>
              <a:rPr lang="en-US" sz="1500" b="1" dirty="0">
                <a:solidFill>
                  <a:srgbClr val="E9B949"/>
                </a:solidFill>
                <a:latin typeface="Calibri" pitchFamily="34" charset="0"/>
                <a:ea typeface="Calibri" pitchFamily="34" charset="-122"/>
                <a:cs typeface="Calibri" pitchFamily="34" charset="-120"/>
              </a:rPr>
              <a:t>Subsidio pigouviano autoejecutable</a:t>
            </a:r>
            <a:endParaRPr lang="en-US" sz="1500" dirty="0"/>
          </a:p>
        </p:txBody>
      </p:sp>
      <p:sp>
        <p:nvSpPr>
          <p:cNvPr id="13" name="Text 11"/>
          <p:cNvSpPr/>
          <p:nvPr/>
        </p:nvSpPr>
        <p:spPr>
          <a:xfrm>
            <a:off x="8400288" y="3886200"/>
            <a:ext cx="2874264" cy="1828800"/>
          </a:xfrm>
          <a:prstGeom prst="rect">
            <a:avLst/>
          </a:prstGeom>
          <a:noFill/>
          <a:ln/>
        </p:spPr>
        <p:txBody>
          <a:bodyPr wrap="square" rtlCol="0" anchor="ctr"/>
          <a:lstStyle/>
          <a:p>
            <a:pPr marL="0" indent="0">
              <a:buNone/>
            </a:pPr>
            <a:r>
              <a:rPr lang="en-US" sz="1250" dirty="0">
                <a:solidFill>
                  <a:srgbClr val="DCEAE1"/>
                </a:solidFill>
                <a:latin typeface="Calibri" pitchFamily="34" charset="0"/>
                <a:ea typeface="Calibri" pitchFamily="34" charset="-122"/>
                <a:cs typeface="Calibri" pitchFamily="34" charset="-120"/>
              </a:rPr>
              <a:t>Internaliza la externalidad positiva del reciclaje sin administración centralizada costosa.</a:t>
            </a:r>
            <a:endParaRPr lang="en-US" sz="1250" dirty="0"/>
          </a:p>
        </p:txBody>
      </p:sp>
      <p:sp>
        <p:nvSpPr>
          <p:cNvPr id="14" name="Text 12"/>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9FB8AA"/>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15" name="Text 13"/>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9FB8A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04</a:t>
            </a:r>
            <a:endParaRPr lang="en-US" sz="16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Flujo operativo</a:t>
            </a:r>
            <a:endParaRPr lang="en-US" sz="3200" dirty="0"/>
          </a:p>
        </p:txBody>
      </p:sp>
      <p:sp>
        <p:nvSpPr>
          <p:cNvPr id="4" name="Shape 2"/>
          <p:cNvSpPr/>
          <p:nvPr/>
        </p:nvSpPr>
        <p:spPr>
          <a:xfrm>
            <a:off x="640080" y="1828800"/>
            <a:ext cx="3392424" cy="4023360"/>
          </a:xfrm>
          <a:prstGeom prst="roundRect">
            <a:avLst>
              <a:gd name="adj" fmla="val 2695"/>
            </a:avLst>
          </a:prstGeom>
          <a:solidFill>
            <a:srgbClr val="FFFFFF"/>
          </a:solidFill>
          <a:ln w="12700">
            <a:solidFill>
              <a:srgbClr val="D8E2DB"/>
            </a:solidFill>
            <a:prstDash val="solid"/>
          </a:ln>
        </p:spPr>
      </p:sp>
      <p:sp>
        <p:nvSpPr>
          <p:cNvPr id="5" name="Shape 3"/>
          <p:cNvSpPr/>
          <p:nvPr/>
        </p:nvSpPr>
        <p:spPr>
          <a:xfrm>
            <a:off x="1970532" y="2148840"/>
            <a:ext cx="731520" cy="731520"/>
          </a:xfrm>
          <a:prstGeom prst="ellipse">
            <a:avLst/>
          </a:prstGeom>
          <a:solidFill>
            <a:srgbClr val="1B4332"/>
          </a:solidFill>
          <a:ln/>
        </p:spPr>
      </p:sp>
      <p:sp>
        <p:nvSpPr>
          <p:cNvPr id="6" name="Text 4"/>
          <p:cNvSpPr/>
          <p:nvPr/>
        </p:nvSpPr>
        <p:spPr>
          <a:xfrm>
            <a:off x="1970532" y="2148840"/>
            <a:ext cx="731520" cy="731520"/>
          </a:xfrm>
          <a:prstGeom prst="rect">
            <a:avLst/>
          </a:prstGeom>
          <a:noFill/>
          <a:ln/>
        </p:spPr>
        <p:txBody>
          <a:bodyPr wrap="square" rtlCol="0" anchor="ctr"/>
          <a:lstStyle/>
          <a:p>
            <a:pPr marL="0" indent="0" algn="ctr">
              <a:buNone/>
            </a:pPr>
            <a:r>
              <a:rPr lang="en-US" sz="2600" b="1" dirty="0">
                <a:solidFill>
                  <a:srgbClr val="E9B949"/>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868680" y="3063240"/>
            <a:ext cx="2935224" cy="731520"/>
          </a:xfrm>
          <a:prstGeom prst="rect">
            <a:avLst/>
          </a:prstGeom>
          <a:noFill/>
          <a:ln/>
        </p:spPr>
        <p:txBody>
          <a:bodyPr wrap="square" rtlCol="0" anchor="ctr"/>
          <a:lstStyle/>
          <a:p>
            <a:pPr marL="0" indent="0" algn="ctr">
              <a:buNone/>
            </a:pPr>
            <a:r>
              <a:rPr lang="en-US" sz="1450" b="1" dirty="0">
                <a:solidFill>
                  <a:srgbClr val="1B4332"/>
                </a:solidFill>
                <a:latin typeface="Calibri" pitchFamily="34" charset="0"/>
                <a:ea typeface="Calibri" pitchFamily="34" charset="-122"/>
                <a:cs typeface="Calibri" pitchFamily="34" charset="-120"/>
              </a:rPr>
              <a:t>Segregación en la fuente</a:t>
            </a:r>
            <a:endParaRPr lang="en-US" sz="1450" dirty="0"/>
          </a:p>
        </p:txBody>
      </p:sp>
      <p:sp>
        <p:nvSpPr>
          <p:cNvPr id="8" name="Text 6"/>
          <p:cNvSpPr/>
          <p:nvPr/>
        </p:nvSpPr>
        <p:spPr>
          <a:xfrm>
            <a:off x="914400" y="3840480"/>
            <a:ext cx="2843784" cy="1828800"/>
          </a:xfrm>
          <a:prstGeom prst="rect">
            <a:avLst/>
          </a:prstGeom>
          <a:noFill/>
          <a:ln/>
        </p:spPr>
        <p:txBody>
          <a:bodyPr wrap="square" rtlCol="0" anchor="ctr"/>
          <a:lstStyle/>
          <a:p>
            <a:pPr marL="0" indent="0" algn="ctr">
              <a:buNone/>
            </a:pPr>
            <a:r>
              <a:rPr lang="en-US" sz="1150" dirty="0">
                <a:solidFill>
                  <a:srgbClr val="5B6B60"/>
                </a:solidFill>
                <a:latin typeface="Calibri" pitchFamily="34" charset="0"/>
                <a:ea typeface="Calibri" pitchFamily="34" charset="-122"/>
                <a:cs typeface="Calibri" pitchFamily="34" charset="-120"/>
              </a:rPr>
              <a:t>El estudiante clasifica el material en origen, eliminando el costo de transacción centralizado de clasificación masiva.</a:t>
            </a:r>
            <a:endParaRPr lang="en-US" sz="1150" dirty="0"/>
          </a:p>
        </p:txBody>
      </p:sp>
      <p:sp>
        <p:nvSpPr>
          <p:cNvPr id="9" name="Text 7"/>
          <p:cNvSpPr/>
          <p:nvPr/>
        </p:nvSpPr>
        <p:spPr>
          <a:xfrm>
            <a:off x="3986784" y="3566160"/>
            <a:ext cx="457200" cy="457200"/>
          </a:xfrm>
          <a:prstGeom prst="rect">
            <a:avLst/>
          </a:prstGeom>
          <a:noFill/>
          <a:ln/>
        </p:spPr>
        <p:txBody>
          <a:bodyPr wrap="square" rtlCol="0" anchor="ctr"/>
          <a:lstStyle/>
          <a:p>
            <a:pPr marL="0" indent="0" algn="ctr">
              <a:buNone/>
            </a:pPr>
            <a:r>
              <a:rPr lang="en-US" sz="2600" b="1" dirty="0">
                <a:solidFill>
                  <a:srgbClr val="E9B949"/>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4398264" y="1828800"/>
            <a:ext cx="3392424" cy="4023360"/>
          </a:xfrm>
          <a:prstGeom prst="roundRect">
            <a:avLst>
              <a:gd name="adj" fmla="val 2695"/>
            </a:avLst>
          </a:prstGeom>
          <a:solidFill>
            <a:srgbClr val="FFFFFF"/>
          </a:solidFill>
          <a:ln w="12700">
            <a:solidFill>
              <a:srgbClr val="D8E2DB"/>
            </a:solidFill>
            <a:prstDash val="solid"/>
          </a:ln>
        </p:spPr>
      </p:sp>
      <p:sp>
        <p:nvSpPr>
          <p:cNvPr id="11" name="Shape 9"/>
          <p:cNvSpPr/>
          <p:nvPr/>
        </p:nvSpPr>
        <p:spPr>
          <a:xfrm>
            <a:off x="5728716" y="2148840"/>
            <a:ext cx="731520" cy="731520"/>
          </a:xfrm>
          <a:prstGeom prst="ellipse">
            <a:avLst/>
          </a:prstGeom>
          <a:solidFill>
            <a:srgbClr val="1B4332"/>
          </a:solidFill>
          <a:ln/>
        </p:spPr>
      </p:sp>
      <p:sp>
        <p:nvSpPr>
          <p:cNvPr id="12" name="Text 10"/>
          <p:cNvSpPr/>
          <p:nvPr/>
        </p:nvSpPr>
        <p:spPr>
          <a:xfrm>
            <a:off x="5728716" y="2148840"/>
            <a:ext cx="731520" cy="731520"/>
          </a:xfrm>
          <a:prstGeom prst="rect">
            <a:avLst/>
          </a:prstGeom>
          <a:noFill/>
          <a:ln/>
        </p:spPr>
        <p:txBody>
          <a:bodyPr wrap="square" rtlCol="0" anchor="ctr"/>
          <a:lstStyle/>
          <a:p>
            <a:pPr marL="0" indent="0" algn="ctr">
              <a:buNone/>
            </a:pPr>
            <a:r>
              <a:rPr lang="en-US" sz="2600" b="1" dirty="0">
                <a:solidFill>
                  <a:srgbClr val="E9B949"/>
                </a:solidFill>
                <a:latin typeface="Calibri" pitchFamily="34" charset="0"/>
                <a:ea typeface="Calibri" pitchFamily="34" charset="-122"/>
                <a:cs typeface="Calibri" pitchFamily="34" charset="-120"/>
              </a:rPr>
              <a:t>2</a:t>
            </a:r>
            <a:endParaRPr lang="en-US" sz="2600" dirty="0"/>
          </a:p>
        </p:txBody>
      </p:sp>
      <p:sp>
        <p:nvSpPr>
          <p:cNvPr id="13" name="Text 11"/>
          <p:cNvSpPr/>
          <p:nvPr/>
        </p:nvSpPr>
        <p:spPr>
          <a:xfrm>
            <a:off x="4626864" y="3063240"/>
            <a:ext cx="2935224" cy="731520"/>
          </a:xfrm>
          <a:prstGeom prst="rect">
            <a:avLst/>
          </a:prstGeom>
          <a:noFill/>
          <a:ln/>
        </p:spPr>
        <p:txBody>
          <a:bodyPr wrap="square" rtlCol="0" anchor="ctr"/>
          <a:lstStyle/>
          <a:p>
            <a:pPr marL="0" indent="0" algn="ctr">
              <a:buNone/>
            </a:pPr>
            <a:r>
              <a:rPr lang="en-US" sz="1450" b="1" dirty="0">
                <a:solidFill>
                  <a:srgbClr val="1B4332"/>
                </a:solidFill>
                <a:latin typeface="Calibri" pitchFamily="34" charset="0"/>
                <a:ea typeface="Calibri" pitchFamily="34" charset="-122"/>
                <a:cs typeface="Calibri" pitchFamily="34" charset="-120"/>
              </a:rPr>
              <a:t>Validación criptográfica</a:t>
            </a:r>
            <a:endParaRPr lang="en-US" sz="1450" dirty="0"/>
          </a:p>
        </p:txBody>
      </p:sp>
      <p:sp>
        <p:nvSpPr>
          <p:cNvPr id="14" name="Text 12"/>
          <p:cNvSpPr/>
          <p:nvPr/>
        </p:nvSpPr>
        <p:spPr>
          <a:xfrm>
            <a:off x="4672584" y="3840480"/>
            <a:ext cx="2843784" cy="1828800"/>
          </a:xfrm>
          <a:prstGeom prst="rect">
            <a:avLst/>
          </a:prstGeom>
          <a:noFill/>
          <a:ln/>
        </p:spPr>
        <p:txBody>
          <a:bodyPr wrap="square" rtlCol="0" anchor="ctr"/>
          <a:lstStyle/>
          <a:p>
            <a:pPr marL="0" indent="0" algn="ctr">
              <a:buNone/>
            </a:pPr>
            <a:r>
              <a:rPr lang="en-US" sz="1150" dirty="0">
                <a:solidFill>
                  <a:srgbClr val="5B6B60"/>
                </a:solidFill>
                <a:latin typeface="Calibri" pitchFamily="34" charset="0"/>
                <a:ea typeface="Calibri" pitchFamily="34" charset="-122"/>
                <a:cs typeface="Calibri" pitchFamily="34" charset="-120"/>
              </a:rPr>
              <a:t>El operador universitario (oráculo) pesa el material y registra los datos en el nodo de LNet, vinculando la realidad física con el ledger digital.</a:t>
            </a:r>
            <a:endParaRPr lang="en-US" sz="1150" dirty="0"/>
          </a:p>
        </p:txBody>
      </p:sp>
      <p:sp>
        <p:nvSpPr>
          <p:cNvPr id="15" name="Text 13"/>
          <p:cNvSpPr/>
          <p:nvPr/>
        </p:nvSpPr>
        <p:spPr>
          <a:xfrm>
            <a:off x="7744968" y="3566160"/>
            <a:ext cx="457200" cy="457200"/>
          </a:xfrm>
          <a:prstGeom prst="rect">
            <a:avLst/>
          </a:prstGeom>
          <a:noFill/>
          <a:ln/>
        </p:spPr>
        <p:txBody>
          <a:bodyPr wrap="square" rtlCol="0" anchor="ctr"/>
          <a:lstStyle/>
          <a:p>
            <a:pPr marL="0" indent="0" algn="ctr">
              <a:buNone/>
            </a:pPr>
            <a:r>
              <a:rPr lang="en-US" sz="2600" b="1" dirty="0">
                <a:solidFill>
                  <a:srgbClr val="E9B949"/>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8156448" y="1828800"/>
            <a:ext cx="3392424" cy="4023360"/>
          </a:xfrm>
          <a:prstGeom prst="roundRect">
            <a:avLst>
              <a:gd name="adj" fmla="val 2695"/>
            </a:avLst>
          </a:prstGeom>
          <a:solidFill>
            <a:srgbClr val="FFFFFF"/>
          </a:solidFill>
          <a:ln w="12700">
            <a:solidFill>
              <a:srgbClr val="D8E2DB"/>
            </a:solidFill>
            <a:prstDash val="solid"/>
          </a:ln>
        </p:spPr>
      </p:sp>
      <p:sp>
        <p:nvSpPr>
          <p:cNvPr id="17" name="Shape 15"/>
          <p:cNvSpPr/>
          <p:nvPr/>
        </p:nvSpPr>
        <p:spPr>
          <a:xfrm>
            <a:off x="9486900" y="2148840"/>
            <a:ext cx="731520" cy="731520"/>
          </a:xfrm>
          <a:prstGeom prst="ellipse">
            <a:avLst/>
          </a:prstGeom>
          <a:solidFill>
            <a:srgbClr val="1B4332"/>
          </a:solidFill>
          <a:ln/>
        </p:spPr>
      </p:sp>
      <p:sp>
        <p:nvSpPr>
          <p:cNvPr id="18" name="Text 16"/>
          <p:cNvSpPr/>
          <p:nvPr/>
        </p:nvSpPr>
        <p:spPr>
          <a:xfrm>
            <a:off x="9486900" y="2148840"/>
            <a:ext cx="731520" cy="731520"/>
          </a:xfrm>
          <a:prstGeom prst="rect">
            <a:avLst/>
          </a:prstGeom>
          <a:noFill/>
          <a:ln/>
        </p:spPr>
        <p:txBody>
          <a:bodyPr wrap="square" rtlCol="0" anchor="ctr"/>
          <a:lstStyle/>
          <a:p>
            <a:pPr marL="0" indent="0" algn="ctr">
              <a:buNone/>
            </a:pPr>
            <a:r>
              <a:rPr lang="en-US" sz="2600" b="1" dirty="0">
                <a:solidFill>
                  <a:srgbClr val="E9B949"/>
                </a:solidFill>
                <a:latin typeface="Calibri" pitchFamily="34" charset="0"/>
                <a:ea typeface="Calibri" pitchFamily="34" charset="-122"/>
                <a:cs typeface="Calibri" pitchFamily="34" charset="-120"/>
              </a:rPr>
              <a:t>3</a:t>
            </a:r>
            <a:endParaRPr lang="en-US" sz="2600" dirty="0"/>
          </a:p>
        </p:txBody>
      </p:sp>
      <p:sp>
        <p:nvSpPr>
          <p:cNvPr id="19" name="Text 17"/>
          <p:cNvSpPr/>
          <p:nvPr/>
        </p:nvSpPr>
        <p:spPr>
          <a:xfrm>
            <a:off x="8385048" y="3063240"/>
            <a:ext cx="2935224" cy="731520"/>
          </a:xfrm>
          <a:prstGeom prst="rect">
            <a:avLst/>
          </a:prstGeom>
          <a:noFill/>
          <a:ln/>
        </p:spPr>
        <p:txBody>
          <a:bodyPr wrap="square" rtlCol="0" anchor="ctr"/>
          <a:lstStyle/>
          <a:p>
            <a:pPr marL="0" indent="0" algn="ctr">
              <a:buNone/>
            </a:pPr>
            <a:r>
              <a:rPr lang="en-US" sz="1450" b="1" dirty="0">
                <a:solidFill>
                  <a:srgbClr val="1B4332"/>
                </a:solidFill>
                <a:latin typeface="Calibri" pitchFamily="34" charset="0"/>
                <a:ea typeface="Calibri" pitchFamily="34" charset="-122"/>
                <a:cs typeface="Calibri" pitchFamily="34" charset="-120"/>
              </a:rPr>
              <a:t>Emisión (minting) on-chain</a:t>
            </a:r>
            <a:endParaRPr lang="en-US" sz="1450" dirty="0"/>
          </a:p>
        </p:txBody>
      </p:sp>
      <p:sp>
        <p:nvSpPr>
          <p:cNvPr id="20" name="Text 18"/>
          <p:cNvSpPr/>
          <p:nvPr/>
        </p:nvSpPr>
        <p:spPr>
          <a:xfrm>
            <a:off x="8430768" y="3840480"/>
            <a:ext cx="2843784" cy="1828800"/>
          </a:xfrm>
          <a:prstGeom prst="rect">
            <a:avLst/>
          </a:prstGeom>
          <a:noFill/>
          <a:ln/>
        </p:spPr>
        <p:txBody>
          <a:bodyPr wrap="square" rtlCol="0" anchor="ctr"/>
          <a:lstStyle/>
          <a:p>
            <a:pPr marL="0" indent="0" algn="ctr">
              <a:buNone/>
            </a:pPr>
            <a:r>
              <a:rPr lang="en-US" sz="1150" dirty="0">
                <a:solidFill>
                  <a:srgbClr val="5B6B60"/>
                </a:solidFill>
                <a:latin typeface="Calibri" pitchFamily="34" charset="0"/>
                <a:ea typeface="Calibri" pitchFamily="34" charset="-122"/>
                <a:cs typeface="Calibri" pitchFamily="34" charset="-120"/>
              </a:rPr>
              <a:t>El contrato genera automáticamente tokens ECO en la wallet (MetaMask) del usuario. El Eco Dashboard muestra la contribución a la reducción de la huella institucional.</a:t>
            </a:r>
            <a:endParaRPr lang="en-US" sz="1150" dirty="0"/>
          </a:p>
        </p:txBody>
      </p:sp>
      <p:sp>
        <p:nvSpPr>
          <p:cNvPr id="21" name="Text 19"/>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2" name="Text 20"/>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05</a:t>
            </a:r>
            <a:endParaRPr lang="en-US" sz="16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Tecnologías utilizadas</a:t>
            </a:r>
            <a:endParaRPr lang="en-US" sz="3200" dirty="0"/>
          </a:p>
        </p:txBody>
      </p:sp>
      <p:sp>
        <p:nvSpPr>
          <p:cNvPr id="4" name="Shape 2"/>
          <p:cNvSpPr/>
          <p:nvPr/>
        </p:nvSpPr>
        <p:spPr>
          <a:xfrm>
            <a:off x="640080" y="1783080"/>
            <a:ext cx="10908792" cy="896112"/>
          </a:xfrm>
          <a:prstGeom prst="roundRect">
            <a:avLst>
              <a:gd name="adj" fmla="val 7143"/>
            </a:avLst>
          </a:prstGeom>
          <a:solidFill>
            <a:srgbClr val="FFFFFF"/>
          </a:solidFill>
          <a:ln/>
        </p:spPr>
      </p:sp>
      <p:sp>
        <p:nvSpPr>
          <p:cNvPr id="5" name="Text 3"/>
          <p:cNvSpPr/>
          <p:nvPr/>
        </p:nvSpPr>
        <p:spPr>
          <a:xfrm>
            <a:off x="914400" y="1783080"/>
            <a:ext cx="2651760" cy="896112"/>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Solidity 0.8.20 &amp; EVM</a:t>
            </a:r>
            <a:endParaRPr lang="en-US" sz="1400" dirty="0"/>
          </a:p>
        </p:txBody>
      </p:sp>
      <p:sp>
        <p:nvSpPr>
          <p:cNvPr id="6" name="Shape 4"/>
          <p:cNvSpPr/>
          <p:nvPr/>
        </p:nvSpPr>
        <p:spPr>
          <a:xfrm>
            <a:off x="3703320" y="1938528"/>
            <a:ext cx="2286000" cy="502920"/>
          </a:xfrm>
          <a:prstGeom prst="roundRect">
            <a:avLst>
              <a:gd name="adj" fmla="val 50909"/>
            </a:avLst>
          </a:prstGeom>
          <a:solidFill>
            <a:srgbClr val="D9EBE0"/>
          </a:solidFill>
          <a:ln/>
        </p:spPr>
      </p:sp>
      <p:sp>
        <p:nvSpPr>
          <p:cNvPr id="7" name="Text 5"/>
          <p:cNvSpPr/>
          <p:nvPr/>
        </p:nvSpPr>
        <p:spPr>
          <a:xfrm>
            <a:off x="3703320" y="1938528"/>
            <a:ext cx="2286000" cy="50292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Núcleo del Smart Contract</a:t>
            </a:r>
            <a:endParaRPr lang="en-US" sz="1100" dirty="0"/>
          </a:p>
        </p:txBody>
      </p:sp>
      <p:sp>
        <p:nvSpPr>
          <p:cNvPr id="8" name="Text 6"/>
          <p:cNvSpPr/>
          <p:nvPr/>
        </p:nvSpPr>
        <p:spPr>
          <a:xfrm>
            <a:off x="6263640" y="1783080"/>
            <a:ext cx="5120640" cy="896112"/>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Garantiza inmutabilidad y transparencia, eliminando costos de fiscalización de terceros.</a:t>
            </a:r>
            <a:endParaRPr lang="en-US" sz="1150" dirty="0"/>
          </a:p>
        </p:txBody>
      </p:sp>
      <p:sp>
        <p:nvSpPr>
          <p:cNvPr id="9" name="Shape 7"/>
          <p:cNvSpPr/>
          <p:nvPr/>
        </p:nvSpPr>
        <p:spPr>
          <a:xfrm>
            <a:off x="640080" y="2807208"/>
            <a:ext cx="10908792" cy="896112"/>
          </a:xfrm>
          <a:prstGeom prst="roundRect">
            <a:avLst>
              <a:gd name="adj" fmla="val 7143"/>
            </a:avLst>
          </a:prstGeom>
          <a:solidFill>
            <a:srgbClr val="EAF1EC"/>
          </a:solidFill>
          <a:ln/>
        </p:spPr>
      </p:sp>
      <p:sp>
        <p:nvSpPr>
          <p:cNvPr id="10" name="Text 8"/>
          <p:cNvSpPr/>
          <p:nvPr/>
        </p:nvSpPr>
        <p:spPr>
          <a:xfrm>
            <a:off x="914400" y="2807208"/>
            <a:ext cx="2651760" cy="896112"/>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Red LNet (Testnet)</a:t>
            </a:r>
            <a:endParaRPr lang="en-US" sz="1400" dirty="0"/>
          </a:p>
        </p:txBody>
      </p:sp>
      <p:sp>
        <p:nvSpPr>
          <p:cNvPr id="11" name="Shape 9"/>
          <p:cNvSpPr/>
          <p:nvPr/>
        </p:nvSpPr>
        <p:spPr>
          <a:xfrm>
            <a:off x="3703320" y="2962656"/>
            <a:ext cx="2286000" cy="502920"/>
          </a:xfrm>
          <a:prstGeom prst="roundRect">
            <a:avLst>
              <a:gd name="adj" fmla="val 50909"/>
            </a:avLst>
          </a:prstGeom>
          <a:solidFill>
            <a:srgbClr val="D9EBE0"/>
          </a:solidFill>
          <a:ln/>
        </p:spPr>
      </p:sp>
      <p:sp>
        <p:nvSpPr>
          <p:cNvPr id="12" name="Text 10"/>
          <p:cNvSpPr/>
          <p:nvPr/>
        </p:nvSpPr>
        <p:spPr>
          <a:xfrm>
            <a:off x="3703320" y="2962656"/>
            <a:ext cx="2286000" cy="50292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Infraestructura blockchain</a:t>
            </a:r>
            <a:endParaRPr lang="en-US" sz="1100" dirty="0"/>
          </a:p>
        </p:txBody>
      </p:sp>
      <p:sp>
        <p:nvSpPr>
          <p:cNvPr id="13" name="Text 11"/>
          <p:cNvSpPr/>
          <p:nvPr/>
        </p:nvSpPr>
        <p:spPr>
          <a:xfrm>
            <a:off x="6263640" y="2807208"/>
            <a:ext cx="5120640" cy="896112"/>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Participación de nodo de bajo costo: reduce barreras de entrada y costos fijos iniciales.</a:t>
            </a:r>
            <a:endParaRPr lang="en-US" sz="1150" dirty="0"/>
          </a:p>
        </p:txBody>
      </p:sp>
      <p:sp>
        <p:nvSpPr>
          <p:cNvPr id="14" name="Shape 12"/>
          <p:cNvSpPr/>
          <p:nvPr/>
        </p:nvSpPr>
        <p:spPr>
          <a:xfrm>
            <a:off x="640080" y="3831336"/>
            <a:ext cx="10908792" cy="896112"/>
          </a:xfrm>
          <a:prstGeom prst="roundRect">
            <a:avLst>
              <a:gd name="adj" fmla="val 7143"/>
            </a:avLst>
          </a:prstGeom>
          <a:solidFill>
            <a:srgbClr val="FFFFFF"/>
          </a:solidFill>
          <a:ln/>
        </p:spPr>
      </p:sp>
      <p:sp>
        <p:nvSpPr>
          <p:cNvPr id="15" name="Text 13"/>
          <p:cNvSpPr/>
          <p:nvPr/>
        </p:nvSpPr>
        <p:spPr>
          <a:xfrm>
            <a:off x="914400" y="3831336"/>
            <a:ext cx="2651760" cy="896112"/>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Remix IDE</a:t>
            </a:r>
            <a:endParaRPr lang="en-US" sz="1400" dirty="0"/>
          </a:p>
        </p:txBody>
      </p:sp>
      <p:sp>
        <p:nvSpPr>
          <p:cNvPr id="16" name="Shape 14"/>
          <p:cNvSpPr/>
          <p:nvPr/>
        </p:nvSpPr>
        <p:spPr>
          <a:xfrm>
            <a:off x="3703320" y="3986784"/>
            <a:ext cx="2286000" cy="502920"/>
          </a:xfrm>
          <a:prstGeom prst="roundRect">
            <a:avLst>
              <a:gd name="adj" fmla="val 50909"/>
            </a:avLst>
          </a:prstGeom>
          <a:solidFill>
            <a:srgbClr val="D9EBE0"/>
          </a:solidFill>
          <a:ln/>
        </p:spPr>
      </p:sp>
      <p:sp>
        <p:nvSpPr>
          <p:cNvPr id="17" name="Text 15"/>
          <p:cNvSpPr/>
          <p:nvPr/>
        </p:nvSpPr>
        <p:spPr>
          <a:xfrm>
            <a:off x="3703320" y="3986784"/>
            <a:ext cx="2286000" cy="50292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Entorno de desarrollo</a:t>
            </a:r>
            <a:endParaRPr lang="en-US" sz="1100" dirty="0"/>
          </a:p>
        </p:txBody>
      </p:sp>
      <p:sp>
        <p:nvSpPr>
          <p:cNvPr id="18" name="Text 16"/>
          <p:cNvSpPr/>
          <p:nvPr/>
        </p:nvSpPr>
        <p:spPr>
          <a:xfrm>
            <a:off x="6263640" y="3831336"/>
            <a:ext cx="5120640" cy="896112"/>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Minimiza el tiempo de I+D reduciendo la fricción de despliegue en pruebas iterativas.</a:t>
            </a:r>
            <a:endParaRPr lang="en-US" sz="1150" dirty="0"/>
          </a:p>
        </p:txBody>
      </p:sp>
      <p:sp>
        <p:nvSpPr>
          <p:cNvPr id="19" name="Shape 17"/>
          <p:cNvSpPr/>
          <p:nvPr/>
        </p:nvSpPr>
        <p:spPr>
          <a:xfrm>
            <a:off x="640080" y="4855464"/>
            <a:ext cx="10908792" cy="896112"/>
          </a:xfrm>
          <a:prstGeom prst="roundRect">
            <a:avLst>
              <a:gd name="adj" fmla="val 7143"/>
            </a:avLst>
          </a:prstGeom>
          <a:solidFill>
            <a:srgbClr val="EAF1EC"/>
          </a:solidFill>
          <a:ln/>
        </p:spPr>
      </p:sp>
      <p:sp>
        <p:nvSpPr>
          <p:cNvPr id="20" name="Text 18"/>
          <p:cNvSpPr/>
          <p:nvPr/>
        </p:nvSpPr>
        <p:spPr>
          <a:xfrm>
            <a:off x="914400" y="4855464"/>
            <a:ext cx="2651760" cy="896112"/>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MetaMask</a:t>
            </a:r>
            <a:endParaRPr lang="en-US" sz="1400" dirty="0"/>
          </a:p>
        </p:txBody>
      </p:sp>
      <p:sp>
        <p:nvSpPr>
          <p:cNvPr id="21" name="Shape 19"/>
          <p:cNvSpPr/>
          <p:nvPr/>
        </p:nvSpPr>
        <p:spPr>
          <a:xfrm>
            <a:off x="3703320" y="5010912"/>
            <a:ext cx="2286000" cy="502920"/>
          </a:xfrm>
          <a:prstGeom prst="roundRect">
            <a:avLst>
              <a:gd name="adj" fmla="val 50909"/>
            </a:avLst>
          </a:prstGeom>
          <a:solidFill>
            <a:srgbClr val="D9EBE0"/>
          </a:solidFill>
          <a:ln/>
        </p:spPr>
      </p:sp>
      <p:sp>
        <p:nvSpPr>
          <p:cNvPr id="22" name="Text 20"/>
          <p:cNvSpPr/>
          <p:nvPr/>
        </p:nvSpPr>
        <p:spPr>
          <a:xfrm>
            <a:off x="3703320" y="5010912"/>
            <a:ext cx="2286000" cy="50292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Billetera descentralizada</a:t>
            </a:r>
            <a:endParaRPr lang="en-US" sz="1100" dirty="0"/>
          </a:p>
        </p:txBody>
      </p:sp>
      <p:sp>
        <p:nvSpPr>
          <p:cNvPr id="23" name="Text 21"/>
          <p:cNvSpPr/>
          <p:nvPr/>
        </p:nvSpPr>
        <p:spPr>
          <a:xfrm>
            <a:off x="6263640" y="4855464"/>
            <a:ext cx="5120640" cy="896112"/>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Estandariza la interacción del usuario, reduciendo costos de adopción para el estudiante.</a:t>
            </a:r>
            <a:endParaRPr lang="en-US" sz="1150" dirty="0"/>
          </a:p>
        </p:txBody>
      </p:sp>
      <p:sp>
        <p:nvSpPr>
          <p:cNvPr id="24" name="Text 22"/>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5" name="Text 23"/>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05</a:t>
            </a:r>
            <a:endParaRPr lang="en-US" sz="1600" dirty="0"/>
          </a:p>
        </p:txBody>
      </p:sp>
      <p:sp>
        <p:nvSpPr>
          <p:cNvPr id="3" name="Text 1"/>
          <p:cNvSpPr/>
          <p:nvPr/>
        </p:nvSpPr>
        <p:spPr>
          <a:xfrm>
            <a:off x="640080" y="822960"/>
            <a:ext cx="10515600" cy="640080"/>
          </a:xfrm>
          <a:prstGeom prst="rect">
            <a:avLst/>
          </a:prstGeom>
          <a:noFill/>
          <a:ln/>
        </p:spPr>
        <p:txBody>
          <a:bodyPr wrap="square" rtlCol="0" anchor="ctr"/>
          <a:lstStyle/>
          <a:p>
            <a:pPr marL="0" indent="0">
              <a:buNone/>
            </a:pPr>
            <a:r>
              <a:rPr lang="en-US" sz="2800" b="1" dirty="0">
                <a:solidFill>
                  <a:srgbClr val="1B4332"/>
                </a:solidFill>
                <a:latin typeface="Cambria" pitchFamily="34" charset="0"/>
                <a:ea typeface="Cambria" pitchFamily="34" charset="-122"/>
                <a:cs typeface="Cambria" pitchFamily="34" charset="-120"/>
              </a:rPr>
              <a:t>Optimización de gas: complejidad O(1)</a:t>
            </a:r>
            <a:endParaRPr lang="en-US" sz="2800" dirty="0"/>
          </a:p>
        </p:txBody>
      </p:sp>
      <p:sp>
        <p:nvSpPr>
          <p:cNvPr id="4" name="Shape 2"/>
          <p:cNvSpPr/>
          <p:nvPr/>
        </p:nvSpPr>
        <p:spPr>
          <a:xfrm>
            <a:off x="640080" y="1600200"/>
            <a:ext cx="6126480" cy="4480560"/>
          </a:xfrm>
          <a:prstGeom prst="roundRect">
            <a:avLst>
              <a:gd name="adj" fmla="val 2041"/>
            </a:avLst>
          </a:prstGeom>
          <a:solidFill>
            <a:srgbClr val="F4F6F1"/>
          </a:solidFill>
          <a:ln w="12700">
            <a:solidFill>
              <a:srgbClr val="D8E2DB"/>
            </a:solidFill>
            <a:prstDash val="solid"/>
          </a:ln>
        </p:spPr>
      </p:sp>
      <p:pic>
        <p:nvPicPr>
          <p:cNvPr id="5" name="Image 0" descr="fig2_gas.png"/>
          <p:cNvPicPr>
            <a:picLocks noChangeAspect="1"/>
          </p:cNvPicPr>
          <p:nvPr/>
        </p:nvPicPr>
        <p:blipFill>
          <a:blip r:embed="rId3"/>
          <a:srcRect/>
          <a:stretch/>
        </p:blipFill>
        <p:spPr>
          <a:xfrm>
            <a:off x="914400" y="1828800"/>
            <a:ext cx="5577840" cy="3566160"/>
          </a:xfrm>
          <a:prstGeom prst="rect">
            <a:avLst/>
          </a:prstGeom>
        </p:spPr>
      </p:pic>
      <p:sp>
        <p:nvSpPr>
          <p:cNvPr id="6" name="Text 3"/>
          <p:cNvSpPr/>
          <p:nvPr/>
        </p:nvSpPr>
        <p:spPr>
          <a:xfrm>
            <a:off x="914400" y="5440680"/>
            <a:ext cx="5577840" cy="548640"/>
          </a:xfrm>
          <a:prstGeom prst="rect">
            <a:avLst/>
          </a:prstGeom>
          <a:noFill/>
          <a:ln/>
        </p:spPr>
        <p:txBody>
          <a:bodyPr wrap="square" rtlCol="0" anchor="ctr"/>
          <a:lstStyle/>
          <a:p>
            <a:pPr marL="0" indent="0">
              <a:buNone/>
            </a:pPr>
            <a:r>
              <a:rPr lang="en-US" sz="1050" i="1" dirty="0">
                <a:solidFill>
                  <a:srgbClr val="5B6B60"/>
                </a:solidFill>
                <a:latin typeface="Calibri" pitchFamily="34" charset="0"/>
                <a:ea typeface="Calibri" pitchFamily="34" charset="-122"/>
                <a:cs typeface="Calibri" pitchFamily="34" charset="-120"/>
              </a:rPr>
              <a:t>Arreglos iterables O(n) vs. mapeos O(1) a medida que crece la comunidad de usuarios.</a:t>
            </a:r>
            <a:endParaRPr lang="en-US" sz="1050" dirty="0"/>
          </a:p>
        </p:txBody>
      </p:sp>
      <p:sp>
        <p:nvSpPr>
          <p:cNvPr id="7" name="Text 4"/>
          <p:cNvSpPr/>
          <p:nvPr/>
        </p:nvSpPr>
        <p:spPr>
          <a:xfrm>
            <a:off x="7040880" y="1691640"/>
            <a:ext cx="4526280" cy="1828800"/>
          </a:xfrm>
          <a:prstGeom prst="rect">
            <a:avLst/>
          </a:prstGeom>
          <a:noFill/>
          <a:ln/>
        </p:spPr>
        <p:txBody>
          <a:bodyPr wrap="square" rtlCol="0" anchor="ctr"/>
          <a:lstStyle/>
          <a:p>
            <a:pPr marL="0" indent="0">
              <a:buNone/>
            </a:pPr>
            <a:r>
              <a:rPr lang="en-US" sz="1250" dirty="0">
                <a:solidFill>
                  <a:srgbClr val="1A1F1B"/>
                </a:solidFill>
                <a:latin typeface="Calibri" pitchFamily="34" charset="0"/>
                <a:ea typeface="Calibri" pitchFamily="34" charset="-122"/>
                <a:cs typeface="Calibri" pitchFamily="34" charset="-120"/>
              </a:rPr>
              <a:t>En una comunidad del tamaño de la UNMSM, los arreglos iterables causarían un crecimiento lineal del costo de transacción, excediendo los límites de bloque de LNet. La estructura basada en mappings mantiene el costo constante sin importar el número de usuarios.</a:t>
            </a:r>
            <a:endParaRPr lang="en-US" sz="1250" dirty="0"/>
          </a:p>
        </p:txBody>
      </p:sp>
      <p:sp>
        <p:nvSpPr>
          <p:cNvPr id="8" name="Shape 5"/>
          <p:cNvSpPr/>
          <p:nvPr/>
        </p:nvSpPr>
        <p:spPr>
          <a:xfrm>
            <a:off x="7040880" y="3611880"/>
            <a:ext cx="4526280" cy="2468880"/>
          </a:xfrm>
          <a:prstGeom prst="roundRect">
            <a:avLst>
              <a:gd name="adj" fmla="val 2963"/>
            </a:avLst>
          </a:prstGeom>
          <a:solidFill>
            <a:srgbClr val="1E2A22"/>
          </a:solidFill>
          <a:ln/>
        </p:spPr>
      </p:sp>
      <p:sp>
        <p:nvSpPr>
          <p:cNvPr id="9" name="Text 6"/>
          <p:cNvSpPr/>
          <p:nvPr/>
        </p:nvSpPr>
        <p:spPr>
          <a:xfrm>
            <a:off x="7269480" y="3749040"/>
            <a:ext cx="4114800" cy="2194560"/>
          </a:xfrm>
          <a:prstGeom prst="rect">
            <a:avLst/>
          </a:prstGeom>
          <a:noFill/>
          <a:ln/>
        </p:spPr>
        <p:txBody>
          <a:bodyPr wrap="square"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function registerRecycling(</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address citizen,</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uint256 kg</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external onlyOwner {</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require(kg &gt; 0, "Invalid input");</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uint256 pts = kg * RATE;</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balances[citizen] += pts;</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  emit RecyclingVerified(citizen, kg, pts);</a:t>
            </a:r>
            <a:endParaRPr lang="en-US" sz="1100" dirty="0"/>
          </a:p>
          <a:p>
            <a:pPr marL="0" indent="0">
              <a:buNone/>
            </a:pPr>
            <a:r>
              <a:rPr lang="en-US" sz="1100" dirty="0">
                <a:solidFill>
                  <a:srgbClr val="74C69D"/>
                </a:solidFill>
                <a:latin typeface="Consolas" pitchFamily="34" charset="0"/>
                <a:ea typeface="Consolas" pitchFamily="34" charset="-122"/>
                <a:cs typeface="Consolas" pitchFamily="34" charset="-120"/>
              </a:rPr>
              <a:t>}</a:t>
            </a:r>
            <a:endParaRPr lang="en-US" sz="1100" dirty="0"/>
          </a:p>
        </p:txBody>
      </p:sp>
      <p:sp>
        <p:nvSpPr>
          <p:cNvPr id="10" name="Text 7"/>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11" name="Text 8"/>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06</a:t>
            </a:r>
            <a:endParaRPr lang="en-US" sz="1600" dirty="0"/>
          </a:p>
        </p:txBody>
      </p:sp>
      <p:sp>
        <p:nvSpPr>
          <p:cNvPr id="3" name="Text 1"/>
          <p:cNvSpPr/>
          <p:nvPr/>
        </p:nvSpPr>
        <p:spPr>
          <a:xfrm>
            <a:off x="640080" y="822960"/>
            <a:ext cx="10515600"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Casos de referencia internacionales</a:t>
            </a:r>
            <a:endParaRPr lang="en-US" sz="30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300" i="1" dirty="0">
                <a:solidFill>
                  <a:srgbClr val="5B6B60"/>
                </a:solidFill>
                <a:latin typeface="Calibri" pitchFamily="34" charset="0"/>
                <a:ea typeface="Calibri" pitchFamily="34" charset="-122"/>
                <a:cs typeface="Calibri" pitchFamily="34" charset="-120"/>
              </a:rPr>
              <a:t>Precedentes que respaldan la viabilidad técnica y social del modelo propuesto.</a:t>
            </a:r>
            <a:endParaRPr lang="en-US" sz="1300" dirty="0"/>
          </a:p>
        </p:txBody>
      </p:sp>
      <p:sp>
        <p:nvSpPr>
          <p:cNvPr id="5" name="Shape 3"/>
          <p:cNvSpPr/>
          <p:nvPr/>
        </p:nvSpPr>
        <p:spPr>
          <a:xfrm>
            <a:off x="640080" y="2103120"/>
            <a:ext cx="3422904" cy="3840480"/>
          </a:xfrm>
          <a:prstGeom prst="roundRect">
            <a:avLst>
              <a:gd name="adj" fmla="val 2671"/>
            </a:avLst>
          </a:prstGeom>
          <a:solidFill>
            <a:srgbClr val="FFFFFF"/>
          </a:solidFill>
          <a:ln w="12700">
            <a:solidFill>
              <a:srgbClr val="D8E2DB"/>
            </a:solidFill>
            <a:prstDash val="solid"/>
          </a:ln>
        </p:spPr>
      </p:sp>
      <p:sp>
        <p:nvSpPr>
          <p:cNvPr id="6" name="Shape 4"/>
          <p:cNvSpPr/>
          <p:nvPr/>
        </p:nvSpPr>
        <p:spPr>
          <a:xfrm>
            <a:off x="914400" y="2377440"/>
            <a:ext cx="457200" cy="457200"/>
          </a:xfrm>
          <a:prstGeom prst="ellipse">
            <a:avLst/>
          </a:prstGeom>
          <a:solidFill>
            <a:srgbClr val="E9B949"/>
          </a:solidFill>
          <a:ln/>
        </p:spPr>
      </p:sp>
      <p:sp>
        <p:nvSpPr>
          <p:cNvPr id="7" name="Text 5"/>
          <p:cNvSpPr/>
          <p:nvPr/>
        </p:nvSpPr>
        <p:spPr>
          <a:xfrm>
            <a:off x="914400" y="2971800"/>
            <a:ext cx="2874264" cy="5943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RECICLOS</a:t>
            </a:r>
            <a:endParaRPr lang="en-US" sz="1500" dirty="0"/>
          </a:p>
        </p:txBody>
      </p:sp>
      <p:sp>
        <p:nvSpPr>
          <p:cNvPr id="8" name="Text 6"/>
          <p:cNvSpPr/>
          <p:nvPr/>
        </p:nvSpPr>
        <p:spPr>
          <a:xfrm>
            <a:off x="914400" y="3520440"/>
            <a:ext cx="2874264" cy="365760"/>
          </a:xfrm>
          <a:prstGeom prst="rect">
            <a:avLst/>
          </a:prstGeom>
          <a:noFill/>
          <a:ln/>
        </p:spPr>
        <p:txBody>
          <a:bodyPr wrap="square" rtlCol="0" anchor="ctr"/>
          <a:lstStyle/>
          <a:p>
            <a:pPr marL="0" indent="0">
              <a:buNone/>
            </a:pPr>
            <a:r>
              <a:rPr lang="en-US" sz="1050" b="1" kern="0" spc="50" dirty="0">
                <a:solidFill>
                  <a:srgbClr val="5B6B60"/>
                </a:solidFill>
                <a:latin typeface="Calibri" pitchFamily="34" charset="0"/>
                <a:ea typeface="Calibri" pitchFamily="34" charset="-122"/>
                <a:cs typeface="Calibri" pitchFamily="34" charset="-120"/>
              </a:rPr>
              <a:t>ECOEMBES / CIRCULARCHAIN — ESPAÑA</a:t>
            </a:r>
            <a:endParaRPr lang="en-US" sz="1050" dirty="0"/>
          </a:p>
        </p:txBody>
      </p:sp>
      <p:sp>
        <p:nvSpPr>
          <p:cNvPr id="9" name="Shape 7"/>
          <p:cNvSpPr/>
          <p:nvPr/>
        </p:nvSpPr>
        <p:spPr>
          <a:xfrm>
            <a:off x="914400" y="3931920"/>
            <a:ext cx="2874264" cy="0"/>
          </a:xfrm>
          <a:prstGeom prst="line">
            <a:avLst/>
          </a:prstGeom>
          <a:noFill/>
          <a:ln w="12700">
            <a:solidFill>
              <a:srgbClr val="E4EAE5"/>
            </a:solidFill>
            <a:prstDash val="solid"/>
          </a:ln>
        </p:spPr>
      </p:sp>
      <p:sp>
        <p:nvSpPr>
          <p:cNvPr id="10" name="Text 8"/>
          <p:cNvSpPr/>
          <p:nvPr/>
        </p:nvSpPr>
        <p:spPr>
          <a:xfrm>
            <a:off x="914400" y="4069080"/>
            <a:ext cx="2874264" cy="1737360"/>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Tokens no fungibles (ERC-721) emitidos por depósito de envases, canjeables por descuentos y sorteos; activo en más de 20 municipios.</a:t>
            </a:r>
            <a:endParaRPr lang="en-US" sz="1150" dirty="0"/>
          </a:p>
        </p:txBody>
      </p:sp>
      <p:sp>
        <p:nvSpPr>
          <p:cNvPr id="11" name="Shape 9"/>
          <p:cNvSpPr/>
          <p:nvPr/>
        </p:nvSpPr>
        <p:spPr>
          <a:xfrm>
            <a:off x="4383024" y="2103120"/>
            <a:ext cx="3422904" cy="3840480"/>
          </a:xfrm>
          <a:prstGeom prst="roundRect">
            <a:avLst>
              <a:gd name="adj" fmla="val 2671"/>
            </a:avLst>
          </a:prstGeom>
          <a:solidFill>
            <a:srgbClr val="FFFFFF"/>
          </a:solidFill>
          <a:ln w="12700">
            <a:solidFill>
              <a:srgbClr val="D8E2DB"/>
            </a:solidFill>
            <a:prstDash val="solid"/>
          </a:ln>
        </p:spPr>
      </p:sp>
      <p:sp>
        <p:nvSpPr>
          <p:cNvPr id="12" name="Shape 10"/>
          <p:cNvSpPr/>
          <p:nvPr/>
        </p:nvSpPr>
        <p:spPr>
          <a:xfrm>
            <a:off x="4657344" y="2377440"/>
            <a:ext cx="457200" cy="457200"/>
          </a:xfrm>
          <a:prstGeom prst="ellipse">
            <a:avLst/>
          </a:prstGeom>
          <a:solidFill>
            <a:srgbClr val="E9B949"/>
          </a:solidFill>
          <a:ln/>
        </p:spPr>
      </p:sp>
      <p:sp>
        <p:nvSpPr>
          <p:cNvPr id="13" name="Text 11"/>
          <p:cNvSpPr/>
          <p:nvPr/>
        </p:nvSpPr>
        <p:spPr>
          <a:xfrm>
            <a:off x="4657344" y="2971800"/>
            <a:ext cx="2874264" cy="5943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Plastic Bank</a:t>
            </a:r>
            <a:endParaRPr lang="en-US" sz="1500" dirty="0"/>
          </a:p>
        </p:txBody>
      </p:sp>
      <p:sp>
        <p:nvSpPr>
          <p:cNvPr id="14" name="Text 12"/>
          <p:cNvSpPr/>
          <p:nvPr/>
        </p:nvSpPr>
        <p:spPr>
          <a:xfrm>
            <a:off x="4657344" y="3520440"/>
            <a:ext cx="2874264" cy="365760"/>
          </a:xfrm>
          <a:prstGeom prst="rect">
            <a:avLst/>
          </a:prstGeom>
          <a:noFill/>
          <a:ln/>
        </p:spPr>
        <p:txBody>
          <a:bodyPr wrap="square" rtlCol="0" anchor="ctr"/>
          <a:lstStyle/>
          <a:p>
            <a:pPr marL="0" indent="0">
              <a:buNone/>
            </a:pPr>
            <a:r>
              <a:rPr lang="en-US" sz="1050" b="1" kern="0" spc="50" dirty="0">
                <a:solidFill>
                  <a:srgbClr val="5B6B60"/>
                </a:solidFill>
                <a:latin typeface="Calibri" pitchFamily="34" charset="0"/>
                <a:ea typeface="Calibri" pitchFamily="34" charset="-122"/>
                <a:cs typeface="Calibri" pitchFamily="34" charset="-120"/>
              </a:rPr>
              <a:t>HAITÍ, FILIPINAS, INDONESIA, BRASIL</a:t>
            </a:r>
            <a:endParaRPr lang="en-US" sz="1050" dirty="0"/>
          </a:p>
        </p:txBody>
      </p:sp>
      <p:sp>
        <p:nvSpPr>
          <p:cNvPr id="15" name="Shape 13"/>
          <p:cNvSpPr/>
          <p:nvPr/>
        </p:nvSpPr>
        <p:spPr>
          <a:xfrm>
            <a:off x="4657344" y="3931920"/>
            <a:ext cx="2874264" cy="0"/>
          </a:xfrm>
          <a:prstGeom prst="line">
            <a:avLst/>
          </a:prstGeom>
          <a:noFill/>
          <a:ln w="12700">
            <a:solidFill>
              <a:srgbClr val="E4EAE5"/>
            </a:solidFill>
            <a:prstDash val="solid"/>
          </a:ln>
        </p:spPr>
      </p:sp>
      <p:sp>
        <p:nvSpPr>
          <p:cNvPr id="16" name="Text 14"/>
          <p:cNvSpPr/>
          <p:nvPr/>
        </p:nvSpPr>
        <p:spPr>
          <a:xfrm>
            <a:off x="4657344" y="4069080"/>
            <a:ext cx="2874264" cy="1737360"/>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Recompensas blockchain por plástico recolectado, canjeables por bienes y servicios (salud, educación, combustible).</a:t>
            </a:r>
            <a:endParaRPr lang="en-US" sz="1150" dirty="0"/>
          </a:p>
        </p:txBody>
      </p:sp>
      <p:sp>
        <p:nvSpPr>
          <p:cNvPr id="17" name="Shape 15"/>
          <p:cNvSpPr/>
          <p:nvPr/>
        </p:nvSpPr>
        <p:spPr>
          <a:xfrm>
            <a:off x="8125968" y="2103120"/>
            <a:ext cx="3422904" cy="3840480"/>
          </a:xfrm>
          <a:prstGeom prst="roundRect">
            <a:avLst>
              <a:gd name="adj" fmla="val 2671"/>
            </a:avLst>
          </a:prstGeom>
          <a:solidFill>
            <a:srgbClr val="FFFFFF"/>
          </a:solidFill>
          <a:ln w="12700">
            <a:solidFill>
              <a:srgbClr val="D8E2DB"/>
            </a:solidFill>
            <a:prstDash val="solid"/>
          </a:ln>
        </p:spPr>
      </p:sp>
      <p:sp>
        <p:nvSpPr>
          <p:cNvPr id="18" name="Shape 16"/>
          <p:cNvSpPr/>
          <p:nvPr/>
        </p:nvSpPr>
        <p:spPr>
          <a:xfrm>
            <a:off x="8400288" y="2377440"/>
            <a:ext cx="457200" cy="457200"/>
          </a:xfrm>
          <a:prstGeom prst="ellipse">
            <a:avLst/>
          </a:prstGeom>
          <a:solidFill>
            <a:srgbClr val="E9B949"/>
          </a:solidFill>
          <a:ln/>
        </p:spPr>
      </p:sp>
      <p:sp>
        <p:nvSpPr>
          <p:cNvPr id="19" name="Text 17"/>
          <p:cNvSpPr/>
          <p:nvPr/>
        </p:nvSpPr>
        <p:spPr>
          <a:xfrm>
            <a:off x="8400288" y="2971800"/>
            <a:ext cx="2874264" cy="5943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Proyecto Colmena (JellyCoin)</a:t>
            </a:r>
            <a:endParaRPr lang="en-US" sz="1500" dirty="0"/>
          </a:p>
        </p:txBody>
      </p:sp>
      <p:sp>
        <p:nvSpPr>
          <p:cNvPr id="20" name="Text 18"/>
          <p:cNvSpPr/>
          <p:nvPr/>
        </p:nvSpPr>
        <p:spPr>
          <a:xfrm>
            <a:off x="8400288" y="3520440"/>
            <a:ext cx="2874264" cy="365760"/>
          </a:xfrm>
          <a:prstGeom prst="rect">
            <a:avLst/>
          </a:prstGeom>
          <a:noFill/>
          <a:ln/>
        </p:spPr>
        <p:txBody>
          <a:bodyPr wrap="square" rtlCol="0" anchor="ctr"/>
          <a:lstStyle/>
          <a:p>
            <a:pPr marL="0" indent="0">
              <a:buNone/>
            </a:pPr>
            <a:r>
              <a:rPr lang="en-US" sz="1050" b="1" kern="0" spc="50" dirty="0">
                <a:solidFill>
                  <a:srgbClr val="5B6B60"/>
                </a:solidFill>
                <a:latin typeface="Calibri" pitchFamily="34" charset="0"/>
                <a:ea typeface="Calibri" pitchFamily="34" charset="-122"/>
                <a:cs typeface="Calibri" pitchFamily="34" charset="-120"/>
              </a:rPr>
              <a:t>CAMPO VIERA, MISIONES — ARGENTINA</a:t>
            </a:r>
            <a:endParaRPr lang="en-US" sz="1050" dirty="0"/>
          </a:p>
        </p:txBody>
      </p:sp>
      <p:sp>
        <p:nvSpPr>
          <p:cNvPr id="21" name="Shape 19"/>
          <p:cNvSpPr/>
          <p:nvPr/>
        </p:nvSpPr>
        <p:spPr>
          <a:xfrm>
            <a:off x="8400288" y="3931920"/>
            <a:ext cx="2874264" cy="0"/>
          </a:xfrm>
          <a:prstGeom prst="line">
            <a:avLst/>
          </a:prstGeom>
          <a:noFill/>
          <a:ln w="12700">
            <a:solidFill>
              <a:srgbClr val="E4EAE5"/>
            </a:solidFill>
            <a:prstDash val="solid"/>
          </a:ln>
        </p:spPr>
      </p:sp>
      <p:sp>
        <p:nvSpPr>
          <p:cNvPr id="22" name="Text 20"/>
          <p:cNvSpPr/>
          <p:nvPr/>
        </p:nvSpPr>
        <p:spPr>
          <a:xfrm>
            <a:off x="8400288" y="4069080"/>
            <a:ext cx="2874264" cy="1737360"/>
          </a:xfrm>
          <a:prstGeom prst="rect">
            <a:avLst/>
          </a:prstGeom>
          <a:noFill/>
          <a:ln/>
        </p:spPr>
        <p:txBody>
          <a:bodyPr wrap="square" rtlCol="0" anchor="ctr"/>
          <a:lstStyle/>
          <a:p>
            <a:pPr marL="0" indent="0">
              <a:buNone/>
            </a:pPr>
            <a:r>
              <a:rPr lang="en-US" sz="1150" dirty="0">
                <a:solidFill>
                  <a:srgbClr val="1A1F1B"/>
                </a:solidFill>
                <a:latin typeface="Calibri" pitchFamily="34" charset="0"/>
                <a:ea typeface="Calibri" pitchFamily="34" charset="-122"/>
                <a:cs typeface="Calibri" pitchFamily="34" charset="-120"/>
              </a:rPr>
              <a:t>Criptomoneda local emitida como incentivo por reciclaje de residuos domiciliarios, en fase piloto.</a:t>
            </a:r>
            <a:endParaRPr lang="en-US" sz="1150" dirty="0"/>
          </a:p>
        </p:txBody>
      </p:sp>
      <p:sp>
        <p:nvSpPr>
          <p:cNvPr id="23" name="Text 21"/>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4" name="Text 22"/>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E9B949"/>
                </a:solidFill>
                <a:latin typeface="Cambria" pitchFamily="34" charset="0"/>
                <a:ea typeface="Cambria" pitchFamily="34" charset="-122"/>
                <a:cs typeface="Cambria" pitchFamily="34" charset="-120"/>
              </a:rPr>
              <a:t>07</a:t>
            </a:r>
            <a:endParaRPr lang="en-US" sz="1600" dirty="0"/>
          </a:p>
        </p:txBody>
      </p:sp>
      <p:sp>
        <p:nvSpPr>
          <p:cNvPr id="3" name="Text 1"/>
          <p:cNvSpPr/>
          <p:nvPr/>
        </p:nvSpPr>
        <p:spPr>
          <a:xfrm>
            <a:off x="640080" y="82296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Justificación de impacto y escalabilidad</a:t>
            </a:r>
            <a:endParaRPr lang="en-US" sz="2800" dirty="0"/>
          </a:p>
        </p:txBody>
      </p:sp>
      <p:sp>
        <p:nvSpPr>
          <p:cNvPr id="4" name="Shape 2"/>
          <p:cNvSpPr/>
          <p:nvPr/>
        </p:nvSpPr>
        <p:spPr>
          <a:xfrm>
            <a:off x="640080" y="1828800"/>
            <a:ext cx="10908792" cy="1325880"/>
          </a:xfrm>
          <a:prstGeom prst="roundRect">
            <a:avLst>
              <a:gd name="adj" fmla="val 5517"/>
            </a:avLst>
          </a:prstGeom>
          <a:solidFill>
            <a:srgbClr val="22503C"/>
          </a:solidFill>
          <a:ln w="12700">
            <a:solidFill>
              <a:srgbClr val="3A6B54"/>
            </a:solidFill>
            <a:prstDash val="solid"/>
          </a:ln>
        </p:spPr>
      </p:sp>
      <p:sp>
        <p:nvSpPr>
          <p:cNvPr id="5" name="Text 3"/>
          <p:cNvSpPr/>
          <p:nvPr/>
        </p:nvSpPr>
        <p:spPr>
          <a:xfrm>
            <a:off x="914400" y="1828800"/>
            <a:ext cx="3383280" cy="1325880"/>
          </a:xfrm>
          <a:prstGeom prst="rect">
            <a:avLst/>
          </a:prstGeom>
          <a:noFill/>
          <a:ln/>
        </p:spPr>
        <p:txBody>
          <a:bodyPr wrap="square" rtlCol="0" anchor="ctr"/>
          <a:lstStyle/>
          <a:p>
            <a:pPr marL="0" indent="0">
              <a:buNone/>
            </a:pPr>
            <a:r>
              <a:rPr lang="en-US" sz="1450" b="1" dirty="0">
                <a:solidFill>
                  <a:srgbClr val="E9B949"/>
                </a:solidFill>
                <a:latin typeface="Calibri" pitchFamily="34" charset="0"/>
                <a:ea typeface="Calibri" pitchFamily="34" charset="-122"/>
                <a:cs typeface="Calibri" pitchFamily="34" charset="-120"/>
              </a:rPr>
              <a:t>Señalización de Spence (1973)</a:t>
            </a:r>
            <a:endParaRPr lang="en-US" sz="1450" dirty="0"/>
          </a:p>
        </p:txBody>
      </p:sp>
      <p:sp>
        <p:nvSpPr>
          <p:cNvPr id="6" name="Text 4"/>
          <p:cNvSpPr/>
          <p:nvPr/>
        </p:nvSpPr>
        <p:spPr>
          <a:xfrm>
            <a:off x="4480560" y="1828800"/>
            <a:ext cx="6858000" cy="132588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La acumulación de Eco-Créditos en una wallet pública funciona como una “señal verde” creíble ante empleadores (ESG) o la universidad.</a:t>
            </a:r>
            <a:endParaRPr lang="en-US" sz="1250" dirty="0"/>
          </a:p>
        </p:txBody>
      </p:sp>
      <p:sp>
        <p:nvSpPr>
          <p:cNvPr id="7" name="Shape 5"/>
          <p:cNvSpPr/>
          <p:nvPr/>
        </p:nvSpPr>
        <p:spPr>
          <a:xfrm>
            <a:off x="640080" y="3337560"/>
            <a:ext cx="10908792" cy="1325880"/>
          </a:xfrm>
          <a:prstGeom prst="roundRect">
            <a:avLst>
              <a:gd name="adj" fmla="val 5517"/>
            </a:avLst>
          </a:prstGeom>
          <a:solidFill>
            <a:srgbClr val="22503C"/>
          </a:solidFill>
          <a:ln w="12700">
            <a:solidFill>
              <a:srgbClr val="3A6B54"/>
            </a:solidFill>
            <a:prstDash val="solid"/>
          </a:ln>
        </p:spPr>
      </p:sp>
      <p:sp>
        <p:nvSpPr>
          <p:cNvPr id="8" name="Text 6"/>
          <p:cNvSpPr/>
          <p:nvPr/>
        </p:nvSpPr>
        <p:spPr>
          <a:xfrm>
            <a:off x="914400" y="3337560"/>
            <a:ext cx="3383280" cy="1325880"/>
          </a:xfrm>
          <a:prstGeom prst="rect">
            <a:avLst/>
          </a:prstGeom>
          <a:noFill/>
          <a:ln/>
        </p:spPr>
        <p:txBody>
          <a:bodyPr wrap="square" rtlCol="0" anchor="ctr"/>
          <a:lstStyle/>
          <a:p>
            <a:pPr marL="0" indent="0">
              <a:buNone/>
            </a:pPr>
            <a:r>
              <a:rPr lang="en-US" sz="1450" b="1" dirty="0">
                <a:solidFill>
                  <a:srgbClr val="E9B949"/>
                </a:solidFill>
                <a:latin typeface="Calibri" pitchFamily="34" charset="0"/>
                <a:ea typeface="Calibri" pitchFamily="34" charset="-122"/>
                <a:cs typeface="Calibri" pitchFamily="34" charset="-120"/>
              </a:rPr>
              <a:t>Costo marginal → 0</a:t>
            </a:r>
            <a:endParaRPr lang="en-US" sz="1450" dirty="0"/>
          </a:p>
        </p:txBody>
      </p:sp>
      <p:sp>
        <p:nvSpPr>
          <p:cNvPr id="9" name="Text 7"/>
          <p:cNvSpPr/>
          <p:nvPr/>
        </p:nvSpPr>
        <p:spPr>
          <a:xfrm>
            <a:off x="4480560" y="3337560"/>
            <a:ext cx="6858000" cy="132588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La infraestructura distribuida de LNet permite escalar el protocolo desde una facultad piloto hasta toda la UNMSM sin incrementos proporcionales de infraestructura.</a:t>
            </a:r>
            <a:endParaRPr lang="en-US" sz="1250" dirty="0"/>
          </a:p>
        </p:txBody>
      </p:sp>
      <p:sp>
        <p:nvSpPr>
          <p:cNvPr id="10" name="Shape 8"/>
          <p:cNvSpPr/>
          <p:nvPr/>
        </p:nvSpPr>
        <p:spPr>
          <a:xfrm>
            <a:off x="640080" y="4846320"/>
            <a:ext cx="10908792" cy="1325880"/>
          </a:xfrm>
          <a:prstGeom prst="roundRect">
            <a:avLst>
              <a:gd name="adj" fmla="val 5517"/>
            </a:avLst>
          </a:prstGeom>
          <a:solidFill>
            <a:srgbClr val="22503C"/>
          </a:solidFill>
          <a:ln w="12700">
            <a:solidFill>
              <a:srgbClr val="3A6B54"/>
            </a:solidFill>
            <a:prstDash val="solid"/>
          </a:ln>
        </p:spPr>
      </p:sp>
      <p:sp>
        <p:nvSpPr>
          <p:cNvPr id="11" name="Text 9"/>
          <p:cNvSpPr/>
          <p:nvPr/>
        </p:nvSpPr>
        <p:spPr>
          <a:xfrm>
            <a:off x="914400" y="4846320"/>
            <a:ext cx="3383280" cy="1325880"/>
          </a:xfrm>
          <a:prstGeom prst="rect">
            <a:avLst/>
          </a:prstGeom>
          <a:noFill/>
          <a:ln/>
        </p:spPr>
        <p:txBody>
          <a:bodyPr wrap="square" rtlCol="0" anchor="ctr"/>
          <a:lstStyle/>
          <a:p>
            <a:pPr marL="0" indent="0">
              <a:buNone/>
            </a:pPr>
            <a:r>
              <a:rPr lang="en-US" sz="1450" b="1" dirty="0">
                <a:solidFill>
                  <a:srgbClr val="E9B949"/>
                </a:solidFill>
                <a:latin typeface="Calibri" pitchFamily="34" charset="0"/>
                <a:ea typeface="Calibri" pitchFamily="34" charset="-122"/>
                <a:cs typeface="Calibri" pitchFamily="34" charset="-120"/>
              </a:rPr>
              <a:t>Efectos de red positivos</a:t>
            </a:r>
            <a:endParaRPr lang="en-US" sz="1450" dirty="0"/>
          </a:p>
        </p:txBody>
      </p:sp>
      <p:sp>
        <p:nvSpPr>
          <p:cNvPr id="12" name="Text 10"/>
          <p:cNvSpPr/>
          <p:nvPr/>
        </p:nvSpPr>
        <p:spPr>
          <a:xfrm>
            <a:off x="4480560" y="4846320"/>
            <a:ext cx="6858000" cy="132588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El valor del protocolo crece exponencialmente con la participación: más datos on-chain aumentan la capacidad de monetizar bonos de carbono.</a:t>
            </a:r>
            <a:endParaRPr lang="en-US" sz="1250" dirty="0"/>
          </a:p>
        </p:txBody>
      </p:sp>
      <p:sp>
        <p:nvSpPr>
          <p:cNvPr id="13" name="Text 11"/>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9FB8AA"/>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14" name="Text 12"/>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9FB8A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08</a:t>
            </a:r>
            <a:endParaRPr lang="en-US" sz="16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Alineación con los ODS</a:t>
            </a:r>
            <a:endParaRPr lang="en-US" sz="32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300" i="1" dirty="0">
                <a:solidFill>
                  <a:srgbClr val="5B6B60"/>
                </a:solidFill>
                <a:latin typeface="Calibri" pitchFamily="34" charset="0"/>
                <a:ea typeface="Calibri" pitchFamily="34" charset="-122"/>
                <a:cs typeface="Calibri" pitchFamily="34" charset="-120"/>
              </a:rPr>
              <a:t>Agenda 2030 de las Naciones Unidas (ONU, 2023)</a:t>
            </a:r>
            <a:endParaRPr lang="en-US" sz="1300" dirty="0"/>
          </a:p>
        </p:txBody>
      </p:sp>
      <p:sp>
        <p:nvSpPr>
          <p:cNvPr id="5" name="Shape 3"/>
          <p:cNvSpPr/>
          <p:nvPr/>
        </p:nvSpPr>
        <p:spPr>
          <a:xfrm>
            <a:off x="640080" y="2103120"/>
            <a:ext cx="3422904" cy="3840480"/>
          </a:xfrm>
          <a:prstGeom prst="roundRect">
            <a:avLst>
              <a:gd name="adj" fmla="val 2671"/>
            </a:avLst>
          </a:prstGeom>
          <a:solidFill>
            <a:srgbClr val="FFFFFF"/>
          </a:solidFill>
          <a:ln w="12700">
            <a:solidFill>
              <a:srgbClr val="D8E2DB"/>
            </a:solidFill>
            <a:prstDash val="solid"/>
          </a:ln>
        </p:spPr>
      </p:sp>
      <p:sp>
        <p:nvSpPr>
          <p:cNvPr id="6" name="Shape 4"/>
          <p:cNvSpPr/>
          <p:nvPr/>
        </p:nvSpPr>
        <p:spPr>
          <a:xfrm>
            <a:off x="640080" y="2103120"/>
            <a:ext cx="3422904" cy="1188720"/>
          </a:xfrm>
          <a:prstGeom prst="roundRect">
            <a:avLst>
              <a:gd name="adj" fmla="val 7692"/>
            </a:avLst>
          </a:prstGeom>
          <a:solidFill>
            <a:srgbClr val="1B4332"/>
          </a:solidFill>
          <a:ln/>
        </p:spPr>
      </p:sp>
      <p:sp>
        <p:nvSpPr>
          <p:cNvPr id="7" name="Shape 5"/>
          <p:cNvSpPr/>
          <p:nvPr/>
        </p:nvSpPr>
        <p:spPr>
          <a:xfrm>
            <a:off x="640080" y="2880360"/>
            <a:ext cx="3422904" cy="411480"/>
          </a:xfrm>
          <a:prstGeom prst="rect">
            <a:avLst/>
          </a:prstGeom>
          <a:solidFill>
            <a:srgbClr val="1B4332"/>
          </a:solidFill>
          <a:ln/>
        </p:spPr>
      </p:sp>
      <p:sp>
        <p:nvSpPr>
          <p:cNvPr id="8" name="Text 6"/>
          <p:cNvSpPr/>
          <p:nvPr/>
        </p:nvSpPr>
        <p:spPr>
          <a:xfrm>
            <a:off x="914400" y="2103120"/>
            <a:ext cx="2874264" cy="1188720"/>
          </a:xfrm>
          <a:prstGeom prst="rect">
            <a:avLst/>
          </a:prstGeom>
          <a:noFill/>
          <a:ln/>
        </p:spPr>
        <p:txBody>
          <a:bodyPr wrap="square" rtlCol="0" anchor="ctr"/>
          <a:lstStyle/>
          <a:p>
            <a:pPr marL="0" indent="0">
              <a:buNone/>
            </a:pPr>
            <a:r>
              <a:rPr lang="en-US" sz="3000" b="1" dirty="0">
                <a:solidFill>
                  <a:srgbClr val="E9B949"/>
                </a:solidFill>
                <a:latin typeface="Cambria" pitchFamily="34" charset="0"/>
                <a:ea typeface="Cambria" pitchFamily="34" charset="-122"/>
                <a:cs typeface="Cambria" pitchFamily="34" charset="-120"/>
              </a:rPr>
              <a:t>ODS 11</a:t>
            </a:r>
            <a:endParaRPr lang="en-US" sz="3000" dirty="0"/>
          </a:p>
        </p:txBody>
      </p:sp>
      <p:sp>
        <p:nvSpPr>
          <p:cNvPr id="9" name="Text 7"/>
          <p:cNvSpPr/>
          <p:nvPr/>
        </p:nvSpPr>
        <p:spPr>
          <a:xfrm>
            <a:off x="914400" y="3429000"/>
            <a:ext cx="2874264" cy="822960"/>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Ciudades y Comunidades Sostenibles</a:t>
            </a:r>
            <a:endParaRPr lang="en-US" sz="1400" dirty="0"/>
          </a:p>
        </p:txBody>
      </p:sp>
      <p:sp>
        <p:nvSpPr>
          <p:cNvPr id="10" name="Text 8"/>
          <p:cNvSpPr/>
          <p:nvPr/>
        </p:nvSpPr>
        <p:spPr>
          <a:xfrm>
            <a:off x="914400" y="4251960"/>
            <a:ext cx="2874264" cy="155448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Fortalece la gestión de residuos sólidos en el campus mediante un sistema de trazabilidad verificable.</a:t>
            </a:r>
            <a:endParaRPr lang="en-US" sz="1200" dirty="0"/>
          </a:p>
        </p:txBody>
      </p:sp>
      <p:sp>
        <p:nvSpPr>
          <p:cNvPr id="11" name="Shape 9"/>
          <p:cNvSpPr/>
          <p:nvPr/>
        </p:nvSpPr>
        <p:spPr>
          <a:xfrm>
            <a:off x="4383024" y="2103120"/>
            <a:ext cx="3422904" cy="3840480"/>
          </a:xfrm>
          <a:prstGeom prst="roundRect">
            <a:avLst>
              <a:gd name="adj" fmla="val 2671"/>
            </a:avLst>
          </a:prstGeom>
          <a:solidFill>
            <a:srgbClr val="FFFFFF"/>
          </a:solidFill>
          <a:ln w="12700">
            <a:solidFill>
              <a:srgbClr val="D8E2DB"/>
            </a:solidFill>
            <a:prstDash val="solid"/>
          </a:ln>
        </p:spPr>
      </p:sp>
      <p:sp>
        <p:nvSpPr>
          <p:cNvPr id="12" name="Shape 10"/>
          <p:cNvSpPr/>
          <p:nvPr/>
        </p:nvSpPr>
        <p:spPr>
          <a:xfrm>
            <a:off x="4383024" y="2103120"/>
            <a:ext cx="3422904" cy="1188720"/>
          </a:xfrm>
          <a:prstGeom prst="roundRect">
            <a:avLst>
              <a:gd name="adj" fmla="val 7692"/>
            </a:avLst>
          </a:prstGeom>
          <a:solidFill>
            <a:srgbClr val="1B4332"/>
          </a:solidFill>
          <a:ln/>
        </p:spPr>
      </p:sp>
      <p:sp>
        <p:nvSpPr>
          <p:cNvPr id="13" name="Shape 11"/>
          <p:cNvSpPr/>
          <p:nvPr/>
        </p:nvSpPr>
        <p:spPr>
          <a:xfrm>
            <a:off x="4383024" y="2880360"/>
            <a:ext cx="3422904" cy="411480"/>
          </a:xfrm>
          <a:prstGeom prst="rect">
            <a:avLst/>
          </a:prstGeom>
          <a:solidFill>
            <a:srgbClr val="1B4332"/>
          </a:solidFill>
          <a:ln/>
        </p:spPr>
      </p:sp>
      <p:sp>
        <p:nvSpPr>
          <p:cNvPr id="14" name="Text 12"/>
          <p:cNvSpPr/>
          <p:nvPr/>
        </p:nvSpPr>
        <p:spPr>
          <a:xfrm>
            <a:off x="4657344" y="2103120"/>
            <a:ext cx="2874264" cy="1188720"/>
          </a:xfrm>
          <a:prstGeom prst="rect">
            <a:avLst/>
          </a:prstGeom>
          <a:noFill/>
          <a:ln/>
        </p:spPr>
        <p:txBody>
          <a:bodyPr wrap="square" rtlCol="0" anchor="ctr"/>
          <a:lstStyle/>
          <a:p>
            <a:pPr marL="0" indent="0">
              <a:buNone/>
            </a:pPr>
            <a:r>
              <a:rPr lang="en-US" sz="3000" b="1" dirty="0">
                <a:solidFill>
                  <a:srgbClr val="E9B949"/>
                </a:solidFill>
                <a:latin typeface="Cambria" pitchFamily="34" charset="0"/>
                <a:ea typeface="Cambria" pitchFamily="34" charset="-122"/>
                <a:cs typeface="Cambria" pitchFamily="34" charset="-120"/>
              </a:rPr>
              <a:t>ODS 12</a:t>
            </a:r>
            <a:endParaRPr lang="en-US" sz="3000" dirty="0"/>
          </a:p>
        </p:txBody>
      </p:sp>
      <p:sp>
        <p:nvSpPr>
          <p:cNvPr id="15" name="Text 13"/>
          <p:cNvSpPr/>
          <p:nvPr/>
        </p:nvSpPr>
        <p:spPr>
          <a:xfrm>
            <a:off x="4657344" y="3429000"/>
            <a:ext cx="2874264" cy="822960"/>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Producción y Consumo Responsables</a:t>
            </a:r>
            <a:endParaRPr lang="en-US" sz="1400" dirty="0"/>
          </a:p>
        </p:txBody>
      </p:sp>
      <p:sp>
        <p:nvSpPr>
          <p:cNvPr id="16" name="Text 14"/>
          <p:cNvSpPr/>
          <p:nvPr/>
        </p:nvSpPr>
        <p:spPr>
          <a:xfrm>
            <a:off x="4657344" y="4251960"/>
            <a:ext cx="2874264" cy="155448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Incentiva económicamente la segregación en la fuente y la valorización de materiales reciclables.</a:t>
            </a:r>
            <a:endParaRPr lang="en-US" sz="1200" dirty="0"/>
          </a:p>
        </p:txBody>
      </p:sp>
      <p:sp>
        <p:nvSpPr>
          <p:cNvPr id="17" name="Shape 15"/>
          <p:cNvSpPr/>
          <p:nvPr/>
        </p:nvSpPr>
        <p:spPr>
          <a:xfrm>
            <a:off x="8125968" y="2103120"/>
            <a:ext cx="3422904" cy="3840480"/>
          </a:xfrm>
          <a:prstGeom prst="roundRect">
            <a:avLst>
              <a:gd name="adj" fmla="val 2671"/>
            </a:avLst>
          </a:prstGeom>
          <a:solidFill>
            <a:srgbClr val="FFFFFF"/>
          </a:solidFill>
          <a:ln w="12700">
            <a:solidFill>
              <a:srgbClr val="D8E2DB"/>
            </a:solidFill>
            <a:prstDash val="solid"/>
          </a:ln>
        </p:spPr>
      </p:sp>
      <p:sp>
        <p:nvSpPr>
          <p:cNvPr id="18" name="Shape 16"/>
          <p:cNvSpPr/>
          <p:nvPr/>
        </p:nvSpPr>
        <p:spPr>
          <a:xfrm>
            <a:off x="8125968" y="2103120"/>
            <a:ext cx="3422904" cy="1188720"/>
          </a:xfrm>
          <a:prstGeom prst="roundRect">
            <a:avLst>
              <a:gd name="adj" fmla="val 7692"/>
            </a:avLst>
          </a:prstGeom>
          <a:solidFill>
            <a:srgbClr val="1B4332"/>
          </a:solidFill>
          <a:ln/>
        </p:spPr>
      </p:sp>
      <p:sp>
        <p:nvSpPr>
          <p:cNvPr id="19" name="Shape 17"/>
          <p:cNvSpPr/>
          <p:nvPr/>
        </p:nvSpPr>
        <p:spPr>
          <a:xfrm>
            <a:off x="8125968" y="2880360"/>
            <a:ext cx="3422904" cy="411480"/>
          </a:xfrm>
          <a:prstGeom prst="rect">
            <a:avLst/>
          </a:prstGeom>
          <a:solidFill>
            <a:srgbClr val="1B4332"/>
          </a:solidFill>
          <a:ln/>
        </p:spPr>
      </p:sp>
      <p:sp>
        <p:nvSpPr>
          <p:cNvPr id="20" name="Text 18"/>
          <p:cNvSpPr/>
          <p:nvPr/>
        </p:nvSpPr>
        <p:spPr>
          <a:xfrm>
            <a:off x="8400288" y="2103120"/>
            <a:ext cx="2874264" cy="1188720"/>
          </a:xfrm>
          <a:prstGeom prst="rect">
            <a:avLst/>
          </a:prstGeom>
          <a:noFill/>
          <a:ln/>
        </p:spPr>
        <p:txBody>
          <a:bodyPr wrap="square" rtlCol="0" anchor="ctr"/>
          <a:lstStyle/>
          <a:p>
            <a:pPr marL="0" indent="0">
              <a:buNone/>
            </a:pPr>
            <a:r>
              <a:rPr lang="en-US" sz="3000" b="1" dirty="0">
                <a:solidFill>
                  <a:srgbClr val="E9B949"/>
                </a:solidFill>
                <a:latin typeface="Cambria" pitchFamily="34" charset="0"/>
                <a:ea typeface="Cambria" pitchFamily="34" charset="-122"/>
                <a:cs typeface="Cambria" pitchFamily="34" charset="-120"/>
              </a:rPr>
              <a:t>ODS 13</a:t>
            </a:r>
            <a:endParaRPr lang="en-US" sz="3000" dirty="0"/>
          </a:p>
        </p:txBody>
      </p:sp>
      <p:sp>
        <p:nvSpPr>
          <p:cNvPr id="21" name="Text 19"/>
          <p:cNvSpPr/>
          <p:nvPr/>
        </p:nvSpPr>
        <p:spPr>
          <a:xfrm>
            <a:off x="8400288" y="3429000"/>
            <a:ext cx="2874264" cy="822960"/>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Acción por el Clima</a:t>
            </a:r>
            <a:endParaRPr lang="en-US" sz="1400" dirty="0"/>
          </a:p>
        </p:txBody>
      </p:sp>
      <p:sp>
        <p:nvSpPr>
          <p:cNvPr id="22" name="Text 20"/>
          <p:cNvSpPr/>
          <p:nvPr/>
        </p:nvSpPr>
        <p:spPr>
          <a:xfrm>
            <a:off x="8400288" y="4251960"/>
            <a:ext cx="2874264" cy="155448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Reduce las emisiones de Alcance 3 y contribuye a mitigar la huella de carbono institucional.</a:t>
            </a:r>
            <a:endParaRPr lang="en-US" sz="1200" dirty="0"/>
          </a:p>
        </p:txBody>
      </p:sp>
      <p:sp>
        <p:nvSpPr>
          <p:cNvPr id="23" name="Text 21"/>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4" name="Text 22"/>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1"/>
        </a:solidFill>
        <a:effectLst/>
      </p:bgPr>
    </p:bg>
    <p:spTree>
      <p:nvGrpSpPr>
        <p:cNvPr id="1" name=""/>
        <p:cNvGrpSpPr/>
        <p:nvPr/>
      </p:nvGrpSpPr>
      <p:grpSpPr>
        <a:xfrm>
          <a:off x="0" y="0"/>
          <a:ext cx="0" cy="0"/>
          <a:chOff x="0" y="0"/>
          <a:chExt cx="0" cy="0"/>
        </a:xfrm>
      </p:grpSpPr>
      <p:sp>
        <p:nvSpPr>
          <p:cNvPr id="2" name="Text 0"/>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74C69D"/>
                </a:solidFill>
                <a:latin typeface="Cambria" pitchFamily="34" charset="0"/>
                <a:ea typeface="Cambria" pitchFamily="34" charset="-122"/>
                <a:cs typeface="Cambria" pitchFamily="34" charset="-120"/>
              </a:rPr>
              <a:t>09</a:t>
            </a:r>
            <a:endParaRPr lang="en-US" sz="1600" dirty="0"/>
          </a:p>
        </p:txBody>
      </p:sp>
      <p:sp>
        <p:nvSpPr>
          <p:cNvPr id="3" name="Text 1"/>
          <p:cNvSpPr/>
          <p:nvPr/>
        </p:nvSpPr>
        <p:spPr>
          <a:xfrm>
            <a:off x="640080" y="822960"/>
            <a:ext cx="10058400"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Hoja de ruta de implementación</a:t>
            </a:r>
            <a:endParaRPr lang="en-US" sz="3000" dirty="0"/>
          </a:p>
        </p:txBody>
      </p:sp>
      <p:sp>
        <p:nvSpPr>
          <p:cNvPr id="4" name="Shape 2"/>
          <p:cNvSpPr/>
          <p:nvPr/>
        </p:nvSpPr>
        <p:spPr>
          <a:xfrm>
            <a:off x="1005840" y="2331720"/>
            <a:ext cx="10149840" cy="0"/>
          </a:xfrm>
          <a:prstGeom prst="line">
            <a:avLst/>
          </a:prstGeom>
          <a:noFill/>
          <a:ln w="38100">
            <a:solidFill>
              <a:srgbClr val="74C69D"/>
            </a:solidFill>
            <a:prstDash val="solid"/>
          </a:ln>
        </p:spPr>
      </p:sp>
      <p:sp>
        <p:nvSpPr>
          <p:cNvPr id="5" name="Shape 3"/>
          <p:cNvSpPr/>
          <p:nvPr/>
        </p:nvSpPr>
        <p:spPr>
          <a:xfrm>
            <a:off x="2095500" y="2084832"/>
            <a:ext cx="512064" cy="512064"/>
          </a:xfrm>
          <a:prstGeom prst="ellipse">
            <a:avLst/>
          </a:prstGeom>
          <a:solidFill>
            <a:srgbClr val="1B4332"/>
          </a:solidFill>
          <a:ln/>
        </p:spPr>
      </p:sp>
      <p:sp>
        <p:nvSpPr>
          <p:cNvPr id="6" name="Text 4"/>
          <p:cNvSpPr/>
          <p:nvPr/>
        </p:nvSpPr>
        <p:spPr>
          <a:xfrm>
            <a:off x="2095500" y="2084832"/>
            <a:ext cx="512064" cy="512064"/>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1</a:t>
            </a:r>
            <a:endParaRPr lang="en-US" sz="2000" dirty="0"/>
          </a:p>
        </p:txBody>
      </p:sp>
      <p:sp>
        <p:nvSpPr>
          <p:cNvPr id="7" name="Shape 5"/>
          <p:cNvSpPr/>
          <p:nvPr/>
        </p:nvSpPr>
        <p:spPr>
          <a:xfrm>
            <a:off x="640080" y="2834640"/>
            <a:ext cx="3422904" cy="3200400"/>
          </a:xfrm>
          <a:prstGeom prst="roundRect">
            <a:avLst>
              <a:gd name="adj" fmla="val 2857"/>
            </a:avLst>
          </a:prstGeom>
          <a:solidFill>
            <a:srgbClr val="FFFFFF"/>
          </a:solidFill>
          <a:ln w="12700">
            <a:solidFill>
              <a:srgbClr val="D8E2DB"/>
            </a:solidFill>
            <a:prstDash val="solid"/>
          </a:ln>
        </p:spPr>
      </p:sp>
      <p:sp>
        <p:nvSpPr>
          <p:cNvPr id="8" name="Shape 6"/>
          <p:cNvSpPr/>
          <p:nvPr/>
        </p:nvSpPr>
        <p:spPr>
          <a:xfrm>
            <a:off x="914400" y="3063240"/>
            <a:ext cx="1280160" cy="365760"/>
          </a:xfrm>
          <a:prstGeom prst="roundRect">
            <a:avLst>
              <a:gd name="adj" fmla="val 50000"/>
            </a:avLst>
          </a:prstGeom>
          <a:solidFill>
            <a:srgbClr val="D9EBE0"/>
          </a:solidFill>
          <a:ln/>
        </p:spPr>
      </p:sp>
      <p:sp>
        <p:nvSpPr>
          <p:cNvPr id="9" name="Text 7"/>
          <p:cNvSpPr/>
          <p:nvPr/>
        </p:nvSpPr>
        <p:spPr>
          <a:xfrm>
            <a:off x="914400" y="3063240"/>
            <a:ext cx="1280160" cy="36576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Q3 2026</a:t>
            </a:r>
            <a:endParaRPr lang="en-US" sz="1100" dirty="0"/>
          </a:p>
        </p:txBody>
      </p:sp>
      <p:sp>
        <p:nvSpPr>
          <p:cNvPr id="10" name="Text 8"/>
          <p:cNvSpPr/>
          <p:nvPr/>
        </p:nvSpPr>
        <p:spPr>
          <a:xfrm>
            <a:off x="914400" y="3566160"/>
            <a:ext cx="2874264" cy="73152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Fase 1 — Rigor técnico y seguridad</a:t>
            </a:r>
            <a:endParaRPr lang="en-US" sz="1450" dirty="0"/>
          </a:p>
        </p:txBody>
      </p:sp>
      <p:sp>
        <p:nvSpPr>
          <p:cNvPr id="11" name="Text 9"/>
          <p:cNvSpPr/>
          <p:nvPr/>
        </p:nvSpPr>
        <p:spPr>
          <a:xfrm>
            <a:off x="914400" y="4343400"/>
            <a:ext cx="2874264" cy="155448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Auditoría integral de Smart Contracts, Penetration Testing y optimización adicional del 15% en uso de gas.</a:t>
            </a:r>
            <a:endParaRPr lang="en-US" sz="1200" dirty="0"/>
          </a:p>
        </p:txBody>
      </p:sp>
      <p:sp>
        <p:nvSpPr>
          <p:cNvPr id="12" name="Shape 10"/>
          <p:cNvSpPr/>
          <p:nvPr/>
        </p:nvSpPr>
        <p:spPr>
          <a:xfrm>
            <a:off x="5838444" y="2084832"/>
            <a:ext cx="512064" cy="512064"/>
          </a:xfrm>
          <a:prstGeom prst="ellipse">
            <a:avLst/>
          </a:prstGeom>
          <a:solidFill>
            <a:srgbClr val="1B4332"/>
          </a:solidFill>
          <a:ln/>
        </p:spPr>
      </p:sp>
      <p:sp>
        <p:nvSpPr>
          <p:cNvPr id="13" name="Text 11"/>
          <p:cNvSpPr/>
          <p:nvPr/>
        </p:nvSpPr>
        <p:spPr>
          <a:xfrm>
            <a:off x="5838444" y="2084832"/>
            <a:ext cx="512064" cy="512064"/>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4383024" y="2834640"/>
            <a:ext cx="3422904" cy="3200400"/>
          </a:xfrm>
          <a:prstGeom prst="roundRect">
            <a:avLst>
              <a:gd name="adj" fmla="val 2857"/>
            </a:avLst>
          </a:prstGeom>
          <a:solidFill>
            <a:srgbClr val="FFFFFF"/>
          </a:solidFill>
          <a:ln w="12700">
            <a:solidFill>
              <a:srgbClr val="D8E2DB"/>
            </a:solidFill>
            <a:prstDash val="solid"/>
          </a:ln>
        </p:spPr>
      </p:sp>
      <p:sp>
        <p:nvSpPr>
          <p:cNvPr id="15" name="Shape 13"/>
          <p:cNvSpPr/>
          <p:nvPr/>
        </p:nvSpPr>
        <p:spPr>
          <a:xfrm>
            <a:off x="4657344" y="3063240"/>
            <a:ext cx="1280160" cy="365760"/>
          </a:xfrm>
          <a:prstGeom prst="roundRect">
            <a:avLst>
              <a:gd name="adj" fmla="val 50000"/>
            </a:avLst>
          </a:prstGeom>
          <a:solidFill>
            <a:srgbClr val="D9EBE0"/>
          </a:solidFill>
          <a:ln/>
        </p:spPr>
      </p:sp>
      <p:sp>
        <p:nvSpPr>
          <p:cNvPr id="16" name="Text 14"/>
          <p:cNvSpPr/>
          <p:nvPr/>
        </p:nvSpPr>
        <p:spPr>
          <a:xfrm>
            <a:off x="4657344" y="3063240"/>
            <a:ext cx="1280160" cy="36576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Q4 2026</a:t>
            </a:r>
            <a:endParaRPr lang="en-US" sz="1100" dirty="0"/>
          </a:p>
        </p:txBody>
      </p:sp>
      <p:sp>
        <p:nvSpPr>
          <p:cNvPr id="17" name="Text 15"/>
          <p:cNvSpPr/>
          <p:nvPr/>
        </p:nvSpPr>
        <p:spPr>
          <a:xfrm>
            <a:off x="4657344" y="3566160"/>
            <a:ext cx="2874264" cy="73152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Fase 2 — Validación de mercado</a:t>
            </a:r>
            <a:endParaRPr lang="en-US" sz="1450" dirty="0"/>
          </a:p>
        </p:txBody>
      </p:sp>
      <p:sp>
        <p:nvSpPr>
          <p:cNvPr id="18" name="Text 16"/>
          <p:cNvSpPr/>
          <p:nvPr/>
        </p:nvSpPr>
        <p:spPr>
          <a:xfrm>
            <a:off x="4657344" y="4343400"/>
            <a:ext cx="2874264" cy="155448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Lanzamiento del piloto en la Ciudad Universitaria UNMSM: 500 usuarios activos y 2 toneladas de material procesado.</a:t>
            </a:r>
            <a:endParaRPr lang="en-US" sz="1200" dirty="0"/>
          </a:p>
        </p:txBody>
      </p:sp>
      <p:sp>
        <p:nvSpPr>
          <p:cNvPr id="19" name="Shape 17"/>
          <p:cNvSpPr/>
          <p:nvPr/>
        </p:nvSpPr>
        <p:spPr>
          <a:xfrm>
            <a:off x="9581388" y="2084832"/>
            <a:ext cx="512064" cy="512064"/>
          </a:xfrm>
          <a:prstGeom prst="ellipse">
            <a:avLst/>
          </a:prstGeom>
          <a:solidFill>
            <a:srgbClr val="1B4332"/>
          </a:solidFill>
          <a:ln/>
        </p:spPr>
      </p:sp>
      <p:sp>
        <p:nvSpPr>
          <p:cNvPr id="20" name="Text 18"/>
          <p:cNvSpPr/>
          <p:nvPr/>
        </p:nvSpPr>
        <p:spPr>
          <a:xfrm>
            <a:off x="9581388" y="2084832"/>
            <a:ext cx="512064" cy="512064"/>
          </a:xfrm>
          <a:prstGeom prst="rect">
            <a:avLst/>
          </a:prstGeom>
          <a:noFill/>
          <a:ln/>
        </p:spPr>
        <p:txBody>
          <a:bodyPr wrap="square" rtlCol="0" anchor="ctr"/>
          <a:lstStyle/>
          <a:p>
            <a:pPr marL="0" indent="0" algn="ctr">
              <a:buNone/>
            </a:pPr>
            <a:r>
              <a:rPr lang="en-US" sz="2000" b="1" dirty="0">
                <a:solidFill>
                  <a:srgbClr val="E9B949"/>
                </a:solidFill>
                <a:latin typeface="Calibri" pitchFamily="34" charset="0"/>
                <a:ea typeface="Calibri" pitchFamily="34" charset="-122"/>
                <a:cs typeface="Calibri" pitchFamily="34" charset="-120"/>
              </a:rPr>
              <a:t>3</a:t>
            </a:r>
            <a:endParaRPr lang="en-US" sz="2000" dirty="0"/>
          </a:p>
        </p:txBody>
      </p:sp>
      <p:sp>
        <p:nvSpPr>
          <p:cNvPr id="21" name="Shape 19"/>
          <p:cNvSpPr/>
          <p:nvPr/>
        </p:nvSpPr>
        <p:spPr>
          <a:xfrm>
            <a:off x="8125968" y="2834640"/>
            <a:ext cx="3422904" cy="3200400"/>
          </a:xfrm>
          <a:prstGeom prst="roundRect">
            <a:avLst>
              <a:gd name="adj" fmla="val 2857"/>
            </a:avLst>
          </a:prstGeom>
          <a:solidFill>
            <a:srgbClr val="FFFFFF"/>
          </a:solidFill>
          <a:ln w="12700">
            <a:solidFill>
              <a:srgbClr val="D8E2DB"/>
            </a:solidFill>
            <a:prstDash val="solid"/>
          </a:ln>
        </p:spPr>
      </p:sp>
      <p:sp>
        <p:nvSpPr>
          <p:cNvPr id="22" name="Shape 20"/>
          <p:cNvSpPr/>
          <p:nvPr/>
        </p:nvSpPr>
        <p:spPr>
          <a:xfrm>
            <a:off x="8400288" y="3063240"/>
            <a:ext cx="1280160" cy="365760"/>
          </a:xfrm>
          <a:prstGeom prst="roundRect">
            <a:avLst>
              <a:gd name="adj" fmla="val 50000"/>
            </a:avLst>
          </a:prstGeom>
          <a:solidFill>
            <a:srgbClr val="D9EBE0"/>
          </a:solidFill>
          <a:ln/>
        </p:spPr>
      </p:sp>
      <p:sp>
        <p:nvSpPr>
          <p:cNvPr id="23" name="Text 21"/>
          <p:cNvSpPr/>
          <p:nvPr/>
        </p:nvSpPr>
        <p:spPr>
          <a:xfrm>
            <a:off x="8400288" y="3063240"/>
            <a:ext cx="1280160" cy="365760"/>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Q1 2027</a:t>
            </a:r>
            <a:endParaRPr lang="en-US" sz="1100" dirty="0"/>
          </a:p>
        </p:txBody>
      </p:sp>
      <p:sp>
        <p:nvSpPr>
          <p:cNvPr id="24" name="Text 22"/>
          <p:cNvSpPr/>
          <p:nvPr/>
        </p:nvSpPr>
        <p:spPr>
          <a:xfrm>
            <a:off x="8400288" y="3566160"/>
            <a:ext cx="2874264" cy="73152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Fase 3 — Escalamiento y red comercial</a:t>
            </a:r>
            <a:endParaRPr lang="en-US" sz="1450" dirty="0"/>
          </a:p>
        </p:txBody>
      </p:sp>
      <p:sp>
        <p:nvSpPr>
          <p:cNvPr id="25" name="Text 23"/>
          <p:cNvSpPr/>
          <p:nvPr/>
        </p:nvSpPr>
        <p:spPr>
          <a:xfrm>
            <a:off x="8400288" y="4343400"/>
            <a:ext cx="2874264" cy="1554480"/>
          </a:xfrm>
          <a:prstGeom prst="rect">
            <a:avLst/>
          </a:prstGeom>
          <a:noFill/>
          <a:ln/>
        </p:spPr>
        <p:txBody>
          <a:bodyPr wrap="square" rtlCol="0" anchor="ctr"/>
          <a:lstStyle/>
          <a:p>
            <a:pPr marL="0" indent="0">
              <a:buNone/>
            </a:pPr>
            <a:r>
              <a:rPr lang="en-US" sz="1200" dirty="0">
                <a:solidFill>
                  <a:srgbClr val="1A1F1B"/>
                </a:solidFill>
                <a:latin typeface="Calibri" pitchFamily="34" charset="0"/>
                <a:ea typeface="Calibri" pitchFamily="34" charset="-122"/>
                <a:cs typeface="Calibri" pitchFamily="34" charset="-120"/>
              </a:rPr>
              <a:t>Integración de APIs para canje en comercios locales y expansión a facultades externas y municipalidades aliadas.</a:t>
            </a:r>
            <a:endParaRPr lang="en-US" sz="1200" dirty="0"/>
          </a:p>
        </p:txBody>
      </p:sp>
      <p:sp>
        <p:nvSpPr>
          <p:cNvPr id="26" name="Text 24"/>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7" name="Text 25"/>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24F3A"/>
          </a:solidFill>
          <a:ln/>
        </p:spPr>
      </p:sp>
      <p:sp>
        <p:nvSpPr>
          <p:cNvPr id="3" name="Shape 1"/>
          <p:cNvSpPr/>
          <p:nvPr/>
        </p:nvSpPr>
        <p:spPr>
          <a:xfrm>
            <a:off x="-1097280" y="4572000"/>
            <a:ext cx="3291840" cy="3291840"/>
          </a:xfrm>
          <a:prstGeom prst="ellipse">
            <a:avLst/>
          </a:prstGeom>
          <a:solidFill>
            <a:srgbClr val="224F3A"/>
          </a:solidFill>
          <a:ln/>
        </p:spPr>
      </p:sp>
      <p:sp>
        <p:nvSpPr>
          <p:cNvPr id="4" name="Text 2"/>
          <p:cNvSpPr/>
          <p:nvPr/>
        </p:nvSpPr>
        <p:spPr>
          <a:xfrm>
            <a:off x="640080" y="502920"/>
            <a:ext cx="1371600" cy="457200"/>
          </a:xfrm>
          <a:prstGeom prst="rect">
            <a:avLst/>
          </a:prstGeom>
          <a:noFill/>
          <a:ln/>
        </p:spPr>
        <p:txBody>
          <a:bodyPr wrap="square" rtlCol="0" anchor="ctr"/>
          <a:lstStyle/>
          <a:p>
            <a:pPr marL="0" indent="0">
              <a:buNone/>
            </a:pPr>
            <a:r>
              <a:rPr lang="en-US" sz="1600" b="1" dirty="0">
                <a:solidFill>
                  <a:srgbClr val="E9B949"/>
                </a:solidFill>
                <a:latin typeface="Cambria" pitchFamily="34" charset="0"/>
                <a:ea typeface="Cambria" pitchFamily="34" charset="-122"/>
                <a:cs typeface="Cambria" pitchFamily="34" charset="-120"/>
              </a:rPr>
              <a:t>10</a:t>
            </a:r>
            <a:endParaRPr lang="en-US" sz="1600" dirty="0"/>
          </a:p>
        </p:txBody>
      </p:sp>
      <p:sp>
        <p:nvSpPr>
          <p:cNvPr id="5" name="Text 3"/>
          <p:cNvSpPr/>
          <p:nvPr/>
        </p:nvSpPr>
        <p:spPr>
          <a:xfrm>
            <a:off x="640080" y="822960"/>
            <a:ext cx="73152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Conclusiones</a:t>
            </a:r>
            <a:endParaRPr lang="en-US" sz="3400" dirty="0"/>
          </a:p>
        </p:txBody>
      </p:sp>
      <p:sp>
        <p:nvSpPr>
          <p:cNvPr id="6" name="Shape 4"/>
          <p:cNvSpPr/>
          <p:nvPr/>
        </p:nvSpPr>
        <p:spPr>
          <a:xfrm>
            <a:off x="640080" y="1901952"/>
            <a:ext cx="457200" cy="457200"/>
          </a:xfrm>
          <a:prstGeom prst="ellipse">
            <a:avLst/>
          </a:prstGeom>
          <a:solidFill>
            <a:srgbClr val="E9B949"/>
          </a:solidFill>
          <a:ln/>
        </p:spPr>
      </p:sp>
      <p:sp>
        <p:nvSpPr>
          <p:cNvPr id="7" name="Text 5"/>
          <p:cNvSpPr/>
          <p:nvPr/>
        </p:nvSpPr>
        <p:spPr>
          <a:xfrm>
            <a:off x="640080" y="1901952"/>
            <a:ext cx="457200" cy="457200"/>
          </a:xfrm>
          <a:prstGeom prst="rect">
            <a:avLst/>
          </a:prstGeom>
          <a:noFill/>
          <a:ln/>
        </p:spPr>
        <p:txBody>
          <a:bodyPr wrap="square" rtlCol="0" anchor="ctr"/>
          <a:lstStyle/>
          <a:p>
            <a:pPr marL="0" indent="0" algn="ctr">
              <a:buNone/>
            </a:pPr>
            <a:r>
              <a:rPr lang="en-US" sz="1800" b="1" dirty="0">
                <a:solidFill>
                  <a:srgbClr val="1B4332"/>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325880" y="1828800"/>
            <a:ext cx="4297680" cy="914400"/>
          </a:xfrm>
          <a:prstGeom prst="rect">
            <a:avLst/>
          </a:prstGeom>
          <a:noFill/>
          <a:ln/>
        </p:spPr>
        <p:txBody>
          <a:bodyPr wrap="square" rtlCol="0" anchor="ctr"/>
          <a:lstStyle/>
          <a:p>
            <a:pPr marL="0" indent="0">
              <a:buNone/>
            </a:pPr>
            <a:r>
              <a:rPr lang="en-US" sz="1400" b="1" dirty="0">
                <a:solidFill>
                  <a:srgbClr val="E9B949"/>
                </a:solidFill>
                <a:latin typeface="Calibri" pitchFamily="34" charset="0"/>
                <a:ea typeface="Calibri" pitchFamily="34" charset="-122"/>
                <a:cs typeface="Calibri" pitchFamily="34" charset="-120"/>
              </a:rPr>
              <a:t>Asimetría de información resuelta</a:t>
            </a:r>
            <a:endParaRPr lang="en-US" sz="1400" dirty="0"/>
          </a:p>
        </p:txBody>
      </p:sp>
      <p:sp>
        <p:nvSpPr>
          <p:cNvPr id="9" name="Text 7"/>
          <p:cNvSpPr/>
          <p:nvPr/>
        </p:nvSpPr>
        <p:spPr>
          <a:xfrm>
            <a:off x="5760720" y="1828800"/>
            <a:ext cx="5760720" cy="91440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Trazabilidad absoluta del impacto ambiental, convirtiendo el reciclaje en una señal de reputación auditable.</a:t>
            </a:r>
            <a:endParaRPr lang="en-US" sz="1250" dirty="0"/>
          </a:p>
        </p:txBody>
      </p:sp>
      <p:sp>
        <p:nvSpPr>
          <p:cNvPr id="10" name="Shape 8"/>
          <p:cNvSpPr/>
          <p:nvPr/>
        </p:nvSpPr>
        <p:spPr>
          <a:xfrm>
            <a:off x="640080" y="2953512"/>
            <a:ext cx="457200" cy="457200"/>
          </a:xfrm>
          <a:prstGeom prst="ellipse">
            <a:avLst/>
          </a:prstGeom>
          <a:solidFill>
            <a:srgbClr val="E9B949"/>
          </a:solidFill>
          <a:ln/>
        </p:spPr>
      </p:sp>
      <p:sp>
        <p:nvSpPr>
          <p:cNvPr id="11" name="Text 9"/>
          <p:cNvSpPr/>
          <p:nvPr/>
        </p:nvSpPr>
        <p:spPr>
          <a:xfrm>
            <a:off x="640080" y="2953512"/>
            <a:ext cx="457200" cy="457200"/>
          </a:xfrm>
          <a:prstGeom prst="rect">
            <a:avLst/>
          </a:prstGeom>
          <a:noFill/>
          <a:ln/>
        </p:spPr>
        <p:txBody>
          <a:bodyPr wrap="square" rtlCol="0" anchor="ctr"/>
          <a:lstStyle/>
          <a:p>
            <a:pPr marL="0" indent="0" algn="ctr">
              <a:buNone/>
            </a:pPr>
            <a:r>
              <a:rPr lang="en-US" sz="1800" b="1" dirty="0">
                <a:solidFill>
                  <a:srgbClr val="1B4332"/>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325880" y="2880360"/>
            <a:ext cx="4297680" cy="914400"/>
          </a:xfrm>
          <a:prstGeom prst="rect">
            <a:avLst/>
          </a:prstGeom>
          <a:noFill/>
          <a:ln/>
        </p:spPr>
        <p:txBody>
          <a:bodyPr wrap="square" rtlCol="0" anchor="ctr"/>
          <a:lstStyle/>
          <a:p>
            <a:pPr marL="0" indent="0">
              <a:buNone/>
            </a:pPr>
            <a:r>
              <a:rPr lang="en-US" sz="1400" b="1" dirty="0">
                <a:solidFill>
                  <a:srgbClr val="E9B949"/>
                </a:solidFill>
                <a:latin typeface="Calibri" pitchFamily="34" charset="0"/>
                <a:ea typeface="Calibri" pitchFamily="34" charset="-122"/>
                <a:cs typeface="Calibri" pitchFamily="34" charset="-120"/>
              </a:rPr>
              <a:t>Costos de transacción reducidos</a:t>
            </a:r>
            <a:endParaRPr lang="en-US" sz="1400" dirty="0"/>
          </a:p>
        </p:txBody>
      </p:sp>
      <p:sp>
        <p:nvSpPr>
          <p:cNvPr id="13" name="Text 11"/>
          <p:cNvSpPr/>
          <p:nvPr/>
        </p:nvSpPr>
        <p:spPr>
          <a:xfrm>
            <a:off x="5760720" y="2880360"/>
            <a:ext cx="5760720" cy="91440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El modelo de Eco-Créditos compensa directamente el costo de oportunidad, incentivando el óptimo social de reciclaje.</a:t>
            </a:r>
            <a:endParaRPr lang="en-US" sz="1250" dirty="0"/>
          </a:p>
        </p:txBody>
      </p:sp>
      <p:sp>
        <p:nvSpPr>
          <p:cNvPr id="14" name="Shape 12"/>
          <p:cNvSpPr/>
          <p:nvPr/>
        </p:nvSpPr>
        <p:spPr>
          <a:xfrm>
            <a:off x="640080" y="4005072"/>
            <a:ext cx="457200" cy="457200"/>
          </a:xfrm>
          <a:prstGeom prst="ellipse">
            <a:avLst/>
          </a:prstGeom>
          <a:solidFill>
            <a:srgbClr val="E9B949"/>
          </a:solidFill>
          <a:ln/>
        </p:spPr>
      </p:sp>
      <p:sp>
        <p:nvSpPr>
          <p:cNvPr id="15" name="Text 13"/>
          <p:cNvSpPr/>
          <p:nvPr/>
        </p:nvSpPr>
        <p:spPr>
          <a:xfrm>
            <a:off x="640080" y="4005072"/>
            <a:ext cx="457200" cy="457200"/>
          </a:xfrm>
          <a:prstGeom prst="rect">
            <a:avLst/>
          </a:prstGeom>
          <a:noFill/>
          <a:ln/>
        </p:spPr>
        <p:txBody>
          <a:bodyPr wrap="square" rtlCol="0" anchor="ctr"/>
          <a:lstStyle/>
          <a:p>
            <a:pPr marL="0" indent="0" algn="ctr">
              <a:buNone/>
            </a:pPr>
            <a:r>
              <a:rPr lang="en-US" sz="1800" b="1" dirty="0">
                <a:solidFill>
                  <a:srgbClr val="1B4332"/>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325880" y="3931920"/>
            <a:ext cx="4297680" cy="914400"/>
          </a:xfrm>
          <a:prstGeom prst="rect">
            <a:avLst/>
          </a:prstGeom>
          <a:noFill/>
          <a:ln/>
        </p:spPr>
        <p:txBody>
          <a:bodyPr wrap="square" rtlCol="0" anchor="ctr"/>
          <a:lstStyle/>
          <a:p>
            <a:pPr marL="0" indent="0">
              <a:buNone/>
            </a:pPr>
            <a:r>
              <a:rPr lang="en-US" sz="1400" b="1" dirty="0">
                <a:solidFill>
                  <a:srgbClr val="E9B949"/>
                </a:solidFill>
                <a:latin typeface="Calibri" pitchFamily="34" charset="0"/>
                <a:ea typeface="Calibri" pitchFamily="34" charset="-122"/>
                <a:cs typeface="Calibri" pitchFamily="34" charset="-120"/>
              </a:rPr>
              <a:t>Escalabilidad con costo marginal → 0</a:t>
            </a:r>
            <a:endParaRPr lang="en-US" sz="1400" dirty="0"/>
          </a:p>
        </p:txBody>
      </p:sp>
      <p:sp>
        <p:nvSpPr>
          <p:cNvPr id="17" name="Text 15"/>
          <p:cNvSpPr/>
          <p:nvPr/>
        </p:nvSpPr>
        <p:spPr>
          <a:xfrm>
            <a:off x="5760720" y="3931920"/>
            <a:ext cx="5760720" cy="91440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La arquitectura sobre LNet posiciona a la UNMSM como líder en Web3 aplicado a la economía circular.</a:t>
            </a:r>
            <a:endParaRPr lang="en-US" sz="1250" dirty="0"/>
          </a:p>
        </p:txBody>
      </p:sp>
      <p:sp>
        <p:nvSpPr>
          <p:cNvPr id="18" name="Shape 16"/>
          <p:cNvSpPr/>
          <p:nvPr/>
        </p:nvSpPr>
        <p:spPr>
          <a:xfrm>
            <a:off x="640080" y="5056632"/>
            <a:ext cx="457200" cy="457200"/>
          </a:xfrm>
          <a:prstGeom prst="ellipse">
            <a:avLst/>
          </a:prstGeom>
          <a:solidFill>
            <a:srgbClr val="E9B949"/>
          </a:solidFill>
          <a:ln/>
        </p:spPr>
      </p:sp>
      <p:sp>
        <p:nvSpPr>
          <p:cNvPr id="19" name="Text 17"/>
          <p:cNvSpPr/>
          <p:nvPr/>
        </p:nvSpPr>
        <p:spPr>
          <a:xfrm>
            <a:off x="640080" y="5056632"/>
            <a:ext cx="457200" cy="457200"/>
          </a:xfrm>
          <a:prstGeom prst="rect">
            <a:avLst/>
          </a:prstGeom>
          <a:noFill/>
          <a:ln/>
        </p:spPr>
        <p:txBody>
          <a:bodyPr wrap="square" rtlCol="0" anchor="ctr"/>
          <a:lstStyle/>
          <a:p>
            <a:pPr marL="0" indent="0" algn="ctr">
              <a:buNone/>
            </a:pPr>
            <a:r>
              <a:rPr lang="en-US" sz="1800" b="1" dirty="0">
                <a:solidFill>
                  <a:srgbClr val="1B4332"/>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1325880" y="4983480"/>
            <a:ext cx="4297680" cy="914400"/>
          </a:xfrm>
          <a:prstGeom prst="rect">
            <a:avLst/>
          </a:prstGeom>
          <a:noFill/>
          <a:ln/>
        </p:spPr>
        <p:txBody>
          <a:bodyPr wrap="square" rtlCol="0" anchor="ctr"/>
          <a:lstStyle/>
          <a:p>
            <a:pPr marL="0" indent="0">
              <a:buNone/>
            </a:pPr>
            <a:r>
              <a:rPr lang="en-US" sz="1400" b="1" dirty="0">
                <a:solidFill>
                  <a:srgbClr val="E9B949"/>
                </a:solidFill>
                <a:latin typeface="Calibri" pitchFamily="34" charset="0"/>
                <a:ea typeface="Calibri" pitchFamily="34" charset="-122"/>
                <a:cs typeface="Calibri" pitchFamily="34" charset="-120"/>
              </a:rPr>
              <a:t>Viabilidad validada internacionalmente</a:t>
            </a:r>
            <a:endParaRPr lang="en-US" sz="1400" dirty="0"/>
          </a:p>
        </p:txBody>
      </p:sp>
      <p:sp>
        <p:nvSpPr>
          <p:cNvPr id="21" name="Text 19"/>
          <p:cNvSpPr/>
          <p:nvPr/>
        </p:nvSpPr>
        <p:spPr>
          <a:xfrm>
            <a:off x="5760720" y="4983480"/>
            <a:ext cx="5760720" cy="914400"/>
          </a:xfrm>
          <a:prstGeom prst="rect">
            <a:avLst/>
          </a:prstGeom>
          <a:noFill/>
          <a:ln/>
        </p:spPr>
        <p:txBody>
          <a:bodyPr wrap="square" rtlCol="0" anchor="ctr"/>
          <a:lstStyle/>
          <a:p>
            <a:pPr marL="0" indent="0">
              <a:buNone/>
            </a:pPr>
            <a:r>
              <a:rPr lang="en-US" sz="1250" dirty="0">
                <a:solidFill>
                  <a:srgbClr val="E4EFE8"/>
                </a:solidFill>
                <a:latin typeface="Calibri" pitchFamily="34" charset="0"/>
                <a:ea typeface="Calibri" pitchFamily="34" charset="-122"/>
                <a:cs typeface="Calibri" pitchFamily="34" charset="-120"/>
              </a:rPr>
              <a:t>RECICLOS, Plastic Bank y Proyecto Colmena confirman la viabilidad de la tokenización aplicada al reciclaje.</a:t>
            </a:r>
            <a:endParaRPr lang="en-US" sz="1250" dirty="0"/>
          </a:p>
        </p:txBody>
      </p:sp>
      <p:sp>
        <p:nvSpPr>
          <p:cNvPr id="22" name="Text 20"/>
          <p:cNvSpPr/>
          <p:nvPr/>
        </p:nvSpPr>
        <p:spPr>
          <a:xfrm>
            <a:off x="457200" y="6446520"/>
            <a:ext cx="5486400" cy="274320"/>
          </a:xfrm>
          <a:prstGeom prst="rect">
            <a:avLst/>
          </a:prstGeom>
          <a:noFill/>
          <a:ln/>
        </p:spPr>
        <p:txBody>
          <a:bodyPr wrap="square" rtlCol="0" anchor="ctr"/>
          <a:lstStyle/>
          <a:p>
            <a:pPr marL="0" indent="0">
              <a:buNone/>
            </a:pPr>
            <a:r>
              <a:rPr lang="en-US" sz="1000" i="1" dirty="0">
                <a:solidFill>
                  <a:srgbClr val="9FB8AA"/>
                </a:solidFill>
                <a:latin typeface="Calibri" pitchFamily="34" charset="0"/>
                <a:ea typeface="Calibri" pitchFamily="34" charset="-122"/>
                <a:cs typeface="Calibri" pitchFamily="34" charset="-120"/>
              </a:rPr>
              <a:t>Eco-Carbón UNMSM · Protocolo de Incentivos Blockchain</a:t>
            </a:r>
            <a:endParaRPr lang="en-US" sz="1000" dirty="0"/>
          </a:p>
        </p:txBody>
      </p:sp>
      <p:sp>
        <p:nvSpPr>
          <p:cNvPr id="23" name="Text 21"/>
          <p:cNvSpPr/>
          <p:nvPr/>
        </p:nvSpPr>
        <p:spPr>
          <a:xfrm>
            <a:off x="11274552" y="6446520"/>
            <a:ext cx="548640" cy="274320"/>
          </a:xfrm>
          <a:prstGeom prst="rect">
            <a:avLst/>
          </a:prstGeom>
          <a:noFill/>
          <a:ln/>
        </p:spPr>
        <p:txBody>
          <a:bodyPr wrap="square" rtlCol="0" anchor="ctr"/>
          <a:lstStyle/>
          <a:p>
            <a:pPr marL="0" indent="0" algn="r">
              <a:buNone/>
            </a:pPr>
            <a:r>
              <a:rPr lang="en-US" sz="1000" dirty="0">
                <a:solidFill>
                  <a:srgbClr val="9FB8A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15</Slides>
  <Notes>15</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yorclv1@gmail.com</cp:lastModifiedBy>
  <cp:revision>2</cp:revision>
  <dcterms:created xsi:type="dcterms:W3CDTF">2026-07-10T06:49:22Z</dcterms:created>
  <dcterms:modified xsi:type="dcterms:W3CDTF">2026-07-10T06:51:01Z</dcterms:modified>
</cp:coreProperties>
</file>